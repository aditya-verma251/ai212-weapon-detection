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DG Jory" charset="1" panose="02000000000000000000"/>
      <p:regular r:id="rId20"/>
    </p:embeddedFont>
    <p:embeddedFont>
      <p:font typeface="League Spartan" charset="1" panose="00000800000000000000"/>
      <p:regular r:id="rId21"/>
    </p:embeddedFont>
    <p:embeddedFont>
      <p:font typeface="Canva Sans Bold" charset="1" panose="020B0803030501040103"/>
      <p:regular r:id="rId22"/>
    </p:embeddedFont>
    <p:embeddedFont>
      <p:font typeface="Canva Sans" charset="1" panose="020B0503030501040103"/>
      <p:regular r:id="rId23"/>
    </p:embeddedFont>
    <p:embeddedFont>
      <p:font typeface="Sansation Bold" charset="1" panose="02000000000000000000"/>
      <p:regular r:id="rId24"/>
    </p:embeddedFont>
    <p:embeddedFont>
      <p:font typeface="Aileron Ultra-Bold" charset="1" panose="00000A00000000000000"/>
      <p:regular r:id="rId25"/>
    </p:embeddedFont>
    <p:embeddedFont>
      <p:font typeface="Aileron" charset="1" panose="00000500000000000000"/>
      <p:regular r:id="rId26"/>
    </p:embeddedFont>
    <p:embeddedFont>
      <p:font typeface="Aileron Italics" charset="1" panose="00000500000000000000"/>
      <p:regular r:id="rId27"/>
    </p:embeddedFont>
    <p:embeddedFont>
      <p:font typeface="Aileron Bold" charset="1" panose="000008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5.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7.jpeg" Type="http://schemas.openxmlformats.org/officeDocument/2006/relationships/image"/><Relationship Id="rId15" Target="../media/image18.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4062674" y="3895459"/>
            <a:ext cx="10162652" cy="1002008"/>
          </a:xfrm>
          <a:prstGeom prst="rect">
            <a:avLst/>
          </a:prstGeom>
        </p:spPr>
        <p:txBody>
          <a:bodyPr anchor="t" rtlCol="false" tIns="0" lIns="0" bIns="0" rIns="0">
            <a:spAutoFit/>
          </a:bodyPr>
          <a:lstStyle/>
          <a:p>
            <a:pPr algn="ctr">
              <a:lnSpc>
                <a:spcPts val="7816"/>
              </a:lnSpc>
            </a:pPr>
            <a:r>
              <a:rPr lang="en-US" sz="6513">
                <a:solidFill>
                  <a:srgbClr val="000000"/>
                </a:solidFill>
                <a:latin typeface="DG Jory"/>
                <a:ea typeface="DG Jory"/>
                <a:cs typeface="DG Jory"/>
                <a:sym typeface="DG Jory"/>
              </a:rPr>
              <a:t>Weapon Detection System </a:t>
            </a:r>
          </a:p>
        </p:txBody>
      </p:sp>
      <p:sp>
        <p:nvSpPr>
          <p:cNvPr name="TextBox 9" id="9"/>
          <p:cNvSpPr txBox="true"/>
          <p:nvPr/>
        </p:nvSpPr>
        <p:spPr>
          <a:xfrm rot="0">
            <a:off x="5461852" y="5133975"/>
            <a:ext cx="7364297" cy="1132713"/>
          </a:xfrm>
          <a:prstGeom prst="rect">
            <a:avLst/>
          </a:prstGeom>
        </p:spPr>
        <p:txBody>
          <a:bodyPr anchor="t" rtlCol="false" tIns="0" lIns="0" bIns="0" rIns="0">
            <a:spAutoFit/>
          </a:bodyPr>
          <a:lstStyle/>
          <a:p>
            <a:pPr algn="ctr">
              <a:lnSpc>
                <a:spcPts val="4423"/>
              </a:lnSpc>
            </a:pPr>
            <a:r>
              <a:rPr lang="en-US" sz="3685">
                <a:solidFill>
                  <a:srgbClr val="000000"/>
                </a:solidFill>
                <a:latin typeface="DG Jory"/>
                <a:ea typeface="DG Jory"/>
                <a:cs typeface="DG Jory"/>
                <a:sym typeface="DG Jory"/>
              </a:rPr>
              <a:t>Identification of weapons in images and videos</a:t>
            </a:r>
          </a:p>
        </p:txBody>
      </p:sp>
      <p:sp>
        <p:nvSpPr>
          <p:cNvPr name="TextBox 10" id="10"/>
          <p:cNvSpPr txBox="true"/>
          <p:nvPr/>
        </p:nvSpPr>
        <p:spPr>
          <a:xfrm rot="0">
            <a:off x="4043841" y="1802337"/>
            <a:ext cx="10200318" cy="1266825"/>
          </a:xfrm>
          <a:prstGeom prst="rect">
            <a:avLst/>
          </a:prstGeom>
        </p:spPr>
        <p:txBody>
          <a:bodyPr anchor="t" rtlCol="false" tIns="0" lIns="0" bIns="0" rIns="0">
            <a:spAutoFit/>
          </a:bodyPr>
          <a:lstStyle/>
          <a:p>
            <a:pPr algn="ctr">
              <a:lnSpc>
                <a:spcPts val="10012"/>
              </a:lnSpc>
            </a:pPr>
            <a:r>
              <a:rPr lang="en-US" sz="8344">
                <a:solidFill>
                  <a:srgbClr val="000000"/>
                </a:solidFill>
                <a:latin typeface="League Spartan"/>
                <a:ea typeface="League Spartan"/>
                <a:cs typeface="League Spartan"/>
                <a:sym typeface="League Spartan"/>
              </a:rPr>
              <a:t>AI212 PROJECT</a:t>
            </a:r>
          </a:p>
        </p:txBody>
      </p:sp>
      <p:sp>
        <p:nvSpPr>
          <p:cNvPr name="TextBox 11" id="11"/>
          <p:cNvSpPr txBox="true"/>
          <p:nvPr/>
        </p:nvSpPr>
        <p:spPr>
          <a:xfrm rot="0">
            <a:off x="4279557" y="7305992"/>
            <a:ext cx="9728887" cy="1780540"/>
          </a:xfrm>
          <a:prstGeom prst="rect">
            <a:avLst/>
          </a:prstGeom>
        </p:spPr>
        <p:txBody>
          <a:bodyPr anchor="t" rtlCol="false" tIns="0" lIns="0" bIns="0" rIns="0">
            <a:spAutoFit/>
          </a:bodyPr>
          <a:lstStyle/>
          <a:p>
            <a:pPr algn="l">
              <a:lnSpc>
                <a:spcPts val="4759"/>
              </a:lnSpc>
            </a:pPr>
            <a:r>
              <a:rPr lang="en-US" sz="3399" b="true">
                <a:solidFill>
                  <a:srgbClr val="000000"/>
                </a:solidFill>
                <a:latin typeface="Canva Sans Bold"/>
                <a:ea typeface="Canva Sans Bold"/>
                <a:cs typeface="Canva Sans Bold"/>
                <a:sym typeface="Canva Sans Bold"/>
              </a:rPr>
              <a:t>Team Members:</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Aditya Kumar Verma (2024AIB1002)</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Harsh Yadav (2024AIB1006)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3112552" y="2392103"/>
            <a:ext cx="12062896" cy="6121920"/>
          </a:xfrm>
          <a:custGeom>
            <a:avLst/>
            <a:gdLst/>
            <a:ahLst/>
            <a:cxnLst/>
            <a:rect r="r" b="b" t="t" l="l"/>
            <a:pathLst>
              <a:path h="6121920" w="12062896">
                <a:moveTo>
                  <a:pt x="0" y="0"/>
                </a:moveTo>
                <a:lnTo>
                  <a:pt x="12062896" y="0"/>
                </a:lnTo>
                <a:lnTo>
                  <a:pt x="12062896" y="6121920"/>
                </a:lnTo>
                <a:lnTo>
                  <a:pt x="0" y="6121920"/>
                </a:lnTo>
                <a:lnTo>
                  <a:pt x="0" y="0"/>
                </a:lnTo>
                <a:close/>
              </a:path>
            </a:pathLst>
          </a:custGeom>
          <a:blipFill>
            <a:blip r:embed="rId14"/>
            <a:stretch>
              <a:fillRect l="0" t="0" r="0" b="0"/>
            </a:stretch>
          </a:blipFill>
        </p:spPr>
      </p:sp>
      <p:sp>
        <p:nvSpPr>
          <p:cNvPr name="TextBox 9" id="9"/>
          <p:cNvSpPr txBox="true"/>
          <p:nvPr/>
        </p:nvSpPr>
        <p:spPr>
          <a:xfrm rot="0">
            <a:off x="6441948" y="353237"/>
            <a:ext cx="5404103" cy="733425"/>
          </a:xfrm>
          <a:prstGeom prst="rect">
            <a:avLst/>
          </a:prstGeom>
        </p:spPr>
        <p:txBody>
          <a:bodyPr anchor="t" rtlCol="false" tIns="0" lIns="0" bIns="0" rIns="0">
            <a:spAutoFit/>
          </a:bodyPr>
          <a:lstStyle/>
          <a:p>
            <a:pPr algn="ctr" marL="0" indent="0" lvl="0">
              <a:lnSpc>
                <a:spcPts val="5759"/>
              </a:lnSpc>
              <a:spcBef>
                <a:spcPct val="0"/>
              </a:spcBef>
            </a:pPr>
            <a:r>
              <a:rPr lang="en-US" b="true" sz="4799" spc="47">
                <a:solidFill>
                  <a:srgbClr val="000000"/>
                </a:solidFill>
                <a:latin typeface="Sansation Bold"/>
                <a:ea typeface="Sansation Bold"/>
                <a:cs typeface="Sansation Bold"/>
                <a:sym typeface="Sansation Bold"/>
              </a:rPr>
              <a:t>FINAL PROJECT</a:t>
            </a:r>
          </a:p>
        </p:txBody>
      </p:sp>
      <p:sp>
        <p:nvSpPr>
          <p:cNvPr name="TextBox 10" id="10"/>
          <p:cNvSpPr txBox="true"/>
          <p:nvPr/>
        </p:nvSpPr>
        <p:spPr>
          <a:xfrm rot="0">
            <a:off x="412634" y="4229418"/>
            <a:ext cx="2385593" cy="238061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ea typeface="Canva Sans"/>
                <a:cs typeface="Canva Sans"/>
                <a:sym typeface="Canva Sans"/>
              </a:rPr>
              <a:t>Upload Image to detect wepons </a:t>
            </a:r>
          </a:p>
        </p:txBody>
      </p:sp>
      <p:sp>
        <p:nvSpPr>
          <p:cNvPr name="TextBox 11" id="11"/>
          <p:cNvSpPr txBox="true"/>
          <p:nvPr/>
        </p:nvSpPr>
        <p:spPr>
          <a:xfrm rot="0">
            <a:off x="15487375" y="3929380"/>
            <a:ext cx="2385593" cy="2980690"/>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ea typeface="Canva Sans"/>
                <a:cs typeface="Canva Sans"/>
                <a:sym typeface="Canva Sans"/>
              </a:rPr>
              <a:t>Connect the camera to detect any wepon live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904281" y="7667479"/>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01852" y="-147830"/>
            <a:ext cx="3293680" cy="2587036"/>
          </a:xfrm>
          <a:custGeom>
            <a:avLst/>
            <a:gdLst/>
            <a:ahLst/>
            <a:cxnLst/>
            <a:rect r="r" b="b" t="t" l="l"/>
            <a:pathLst>
              <a:path h="2587036" w="3293680">
                <a:moveTo>
                  <a:pt x="0" y="0"/>
                </a:moveTo>
                <a:lnTo>
                  <a:pt x="3293679" y="0"/>
                </a:lnTo>
                <a:lnTo>
                  <a:pt x="3293679" y="2587035"/>
                </a:lnTo>
                <a:lnTo>
                  <a:pt x="0" y="2587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071102" y="8285665"/>
            <a:ext cx="3216752" cy="3205055"/>
          </a:xfrm>
          <a:custGeom>
            <a:avLst/>
            <a:gdLst/>
            <a:ahLst/>
            <a:cxnLst/>
            <a:rect r="r" b="b" t="t" l="l"/>
            <a:pathLst>
              <a:path h="3205055" w="3216752">
                <a:moveTo>
                  <a:pt x="0" y="0"/>
                </a:moveTo>
                <a:lnTo>
                  <a:pt x="3216751" y="0"/>
                </a:lnTo>
                <a:lnTo>
                  <a:pt x="3216751" y="3205055"/>
                </a:lnTo>
                <a:lnTo>
                  <a:pt x="0" y="32050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582562" y="8783083"/>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34862" y="184271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5373824" y="423468"/>
            <a:ext cx="7540351" cy="733425"/>
          </a:xfrm>
          <a:prstGeom prst="rect">
            <a:avLst/>
          </a:prstGeom>
        </p:spPr>
        <p:txBody>
          <a:bodyPr anchor="t" rtlCol="false" tIns="0" lIns="0" bIns="0" rIns="0">
            <a:spAutoFit/>
          </a:bodyPr>
          <a:lstStyle/>
          <a:p>
            <a:pPr algn="ctr" marL="0" indent="0" lvl="0">
              <a:lnSpc>
                <a:spcPts val="5759"/>
              </a:lnSpc>
              <a:spcBef>
                <a:spcPct val="0"/>
              </a:spcBef>
            </a:pPr>
            <a:r>
              <a:rPr lang="en-US" b="true" sz="4800" spc="48">
                <a:solidFill>
                  <a:srgbClr val="000000"/>
                </a:solidFill>
                <a:latin typeface="Sansation Bold"/>
                <a:ea typeface="Sansation Bold"/>
                <a:cs typeface="Sansation Bold"/>
                <a:sym typeface="Sansation Bold"/>
              </a:rPr>
              <a:t>TECHNOLOGY USED</a:t>
            </a:r>
          </a:p>
        </p:txBody>
      </p:sp>
      <p:sp>
        <p:nvSpPr>
          <p:cNvPr name="TextBox 9" id="9"/>
          <p:cNvSpPr txBox="true"/>
          <p:nvPr/>
        </p:nvSpPr>
        <p:spPr>
          <a:xfrm rot="0">
            <a:off x="3160810" y="1804619"/>
            <a:ext cx="12518354" cy="7660914"/>
          </a:xfrm>
          <a:prstGeom prst="rect">
            <a:avLst/>
          </a:prstGeom>
        </p:spPr>
        <p:txBody>
          <a:bodyPr anchor="t" rtlCol="false" tIns="0" lIns="0" bIns="0" rIns="0">
            <a:spAutoFit/>
          </a:bodyPr>
          <a:lstStyle/>
          <a:p>
            <a:pPr algn="l">
              <a:lnSpc>
                <a:spcPts val="3384"/>
              </a:lnSpc>
            </a:pPr>
            <a:r>
              <a:rPr lang="en-US" b="true" sz="2417">
                <a:solidFill>
                  <a:srgbClr val="000000"/>
                </a:solidFill>
                <a:latin typeface="Canva Sans Bold"/>
                <a:ea typeface="Canva Sans Bold"/>
                <a:cs typeface="Canva Sans Bold"/>
                <a:sym typeface="Canva Sans Bold"/>
              </a:rPr>
              <a:t>AI / Deep Learning:</a:t>
            </a:r>
          </a:p>
          <a:p>
            <a:pPr algn="l" marL="521957" indent="-260979" lvl="1">
              <a:lnSpc>
                <a:spcPts val="3384"/>
              </a:lnSpc>
              <a:buFont typeface="Arial"/>
              <a:buChar char="•"/>
            </a:pPr>
            <a:r>
              <a:rPr lang="en-US" sz="2417">
                <a:solidFill>
                  <a:srgbClr val="000000"/>
                </a:solidFill>
                <a:latin typeface="Canva Sans"/>
                <a:ea typeface="Canva Sans"/>
                <a:cs typeface="Canva Sans"/>
                <a:sym typeface="Canva Sans"/>
              </a:rPr>
              <a:t>YOLOv8 (Ultralytics): Model used for real-time object detection, chosen for its balance of speed and accuracy.</a:t>
            </a:r>
          </a:p>
          <a:p>
            <a:pPr algn="l" marL="521957" indent="-260979" lvl="1">
              <a:lnSpc>
                <a:spcPts val="3384"/>
              </a:lnSpc>
              <a:buFont typeface="Arial"/>
              <a:buChar char="•"/>
            </a:pPr>
            <a:r>
              <a:rPr lang="en-US" sz="2417">
                <a:solidFill>
                  <a:srgbClr val="000000"/>
                </a:solidFill>
                <a:latin typeface="Canva Sans"/>
                <a:ea typeface="Canva Sans"/>
                <a:cs typeface="Canva Sans"/>
                <a:sym typeface="Canva Sans"/>
              </a:rPr>
              <a:t>PyTorch Backend: Acts as the underlying framework for model loading and tensor computations.</a:t>
            </a:r>
          </a:p>
          <a:p>
            <a:pPr algn="l">
              <a:lnSpc>
                <a:spcPts val="3384"/>
              </a:lnSpc>
            </a:pPr>
          </a:p>
          <a:p>
            <a:pPr algn="l">
              <a:lnSpc>
                <a:spcPts val="3384"/>
              </a:lnSpc>
            </a:pPr>
            <a:r>
              <a:rPr lang="en-US" b="true" sz="2417">
                <a:solidFill>
                  <a:srgbClr val="000000"/>
                </a:solidFill>
                <a:latin typeface="Canva Sans Bold"/>
                <a:ea typeface="Canva Sans Bold"/>
                <a:cs typeface="Canva Sans Bold"/>
                <a:sym typeface="Canva Sans Bold"/>
              </a:rPr>
              <a:t>Backend:</a:t>
            </a:r>
          </a:p>
          <a:p>
            <a:pPr algn="l" marL="521957" indent="-260979" lvl="1">
              <a:lnSpc>
                <a:spcPts val="3384"/>
              </a:lnSpc>
              <a:buFont typeface="Arial"/>
              <a:buChar char="•"/>
            </a:pPr>
            <a:r>
              <a:rPr lang="en-US" sz="2417">
                <a:solidFill>
                  <a:srgbClr val="000000"/>
                </a:solidFill>
                <a:latin typeface="Canva Sans"/>
                <a:ea typeface="Canva Sans"/>
                <a:cs typeface="Canva Sans"/>
                <a:sym typeface="Canva Sans"/>
              </a:rPr>
              <a:t>FastAP</a:t>
            </a:r>
          </a:p>
          <a:p>
            <a:pPr algn="l" marL="521957" indent="-260979" lvl="1">
              <a:lnSpc>
                <a:spcPts val="3384"/>
              </a:lnSpc>
              <a:buFont typeface="Arial"/>
              <a:buChar char="•"/>
            </a:pPr>
            <a:r>
              <a:rPr lang="en-US" sz="2417">
                <a:solidFill>
                  <a:srgbClr val="000000"/>
                </a:solidFill>
                <a:latin typeface="Canva Sans"/>
                <a:ea typeface="Canva Sans"/>
                <a:cs typeface="Canva Sans"/>
                <a:sym typeface="Canva Sans"/>
              </a:rPr>
              <a:t>WebSockets: Enables full-duplex communication for real-time video streaming between the client and server.</a:t>
            </a:r>
          </a:p>
          <a:p>
            <a:pPr algn="l">
              <a:lnSpc>
                <a:spcPts val="3384"/>
              </a:lnSpc>
            </a:pPr>
          </a:p>
          <a:p>
            <a:pPr algn="l">
              <a:lnSpc>
                <a:spcPts val="3384"/>
              </a:lnSpc>
            </a:pPr>
            <a:r>
              <a:rPr lang="en-US" b="true" sz="2417">
                <a:solidFill>
                  <a:srgbClr val="000000"/>
                </a:solidFill>
                <a:latin typeface="Canva Sans Bold"/>
                <a:ea typeface="Canva Sans Bold"/>
                <a:cs typeface="Canva Sans Bold"/>
                <a:sym typeface="Canva Sans Bold"/>
              </a:rPr>
              <a:t>Parallel Processing:</a:t>
            </a:r>
          </a:p>
          <a:p>
            <a:pPr algn="l" marL="521957" indent="-260979" lvl="1">
              <a:lnSpc>
                <a:spcPts val="3384"/>
              </a:lnSpc>
              <a:buFont typeface="Arial"/>
              <a:buChar char="•"/>
            </a:pPr>
            <a:r>
              <a:rPr lang="en-US" sz="2417">
                <a:solidFill>
                  <a:srgbClr val="000000"/>
                </a:solidFill>
                <a:latin typeface="Canva Sans"/>
                <a:ea typeface="Canva Sans"/>
                <a:cs typeface="Canva Sans"/>
                <a:sym typeface="Canva Sans"/>
              </a:rPr>
              <a:t>Ray Distributed Framework: Distributs tasks across multiple CPU/GPU workers </a:t>
            </a:r>
          </a:p>
          <a:p>
            <a:pPr algn="l">
              <a:lnSpc>
                <a:spcPts val="3384"/>
              </a:lnSpc>
            </a:pPr>
          </a:p>
          <a:p>
            <a:pPr algn="l">
              <a:lnSpc>
                <a:spcPts val="3384"/>
              </a:lnSpc>
            </a:pPr>
            <a:r>
              <a:rPr lang="en-US" b="true" sz="2417">
                <a:solidFill>
                  <a:srgbClr val="000000"/>
                </a:solidFill>
                <a:latin typeface="Canva Sans Bold"/>
                <a:ea typeface="Canva Sans Bold"/>
                <a:cs typeface="Canva Sans Bold"/>
                <a:sym typeface="Canva Sans Bold"/>
              </a:rPr>
              <a:t>Frontend:</a:t>
            </a:r>
          </a:p>
          <a:p>
            <a:pPr algn="l" marL="521957" indent="-260979" lvl="1">
              <a:lnSpc>
                <a:spcPts val="3384"/>
              </a:lnSpc>
              <a:buFont typeface="Arial"/>
              <a:buChar char="•"/>
            </a:pPr>
            <a:r>
              <a:rPr lang="en-US" sz="2417">
                <a:solidFill>
                  <a:srgbClr val="000000"/>
                </a:solidFill>
                <a:latin typeface="Canva Sans"/>
                <a:ea typeface="Canva Sans"/>
                <a:cs typeface="Canva Sans"/>
                <a:sym typeface="Canva Sans"/>
              </a:rPr>
              <a:t>A React-based interface that handles file uploads and manages live webcam streams using hooks to maintain a responsive, high-density UI.</a:t>
            </a:r>
          </a:p>
          <a:p>
            <a:pPr algn="l">
              <a:lnSpc>
                <a:spcPts val="3384"/>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5053540" y="618206"/>
            <a:ext cx="8151469" cy="1118778"/>
          </a:xfrm>
          <a:prstGeom prst="rect">
            <a:avLst/>
          </a:prstGeom>
        </p:spPr>
        <p:txBody>
          <a:bodyPr anchor="t" rtlCol="false" tIns="0" lIns="0" bIns="0" rIns="0">
            <a:spAutoFit/>
          </a:bodyPr>
          <a:lstStyle/>
          <a:p>
            <a:pPr algn="ctr" marL="0" indent="0" lvl="0">
              <a:lnSpc>
                <a:spcPts val="8751"/>
              </a:lnSpc>
              <a:spcBef>
                <a:spcPct val="0"/>
              </a:spcBef>
            </a:pPr>
            <a:r>
              <a:rPr lang="en-US" b="true" sz="7292" spc="72">
                <a:solidFill>
                  <a:srgbClr val="000000"/>
                </a:solidFill>
                <a:latin typeface="Sansation Bold"/>
                <a:ea typeface="Sansation Bold"/>
                <a:cs typeface="Sansation Bold"/>
                <a:sym typeface="Sansation Bold"/>
              </a:rPr>
              <a:t>WORK FLOW</a:t>
            </a:r>
          </a:p>
        </p:txBody>
      </p:sp>
      <p:grpSp>
        <p:nvGrpSpPr>
          <p:cNvPr name="Group 9" id="9"/>
          <p:cNvGrpSpPr/>
          <p:nvPr/>
        </p:nvGrpSpPr>
        <p:grpSpPr>
          <a:xfrm rot="0">
            <a:off x="2238481" y="6009308"/>
            <a:ext cx="3381485" cy="1743005"/>
            <a:chOff x="0" y="0"/>
            <a:chExt cx="1037403" cy="534735"/>
          </a:xfrm>
        </p:grpSpPr>
        <p:sp>
          <p:nvSpPr>
            <p:cNvPr name="Freeform 10" id="10"/>
            <p:cNvSpPr/>
            <p:nvPr/>
          </p:nvSpPr>
          <p:spPr>
            <a:xfrm flipH="false" flipV="false" rot="0">
              <a:off x="0" y="0"/>
              <a:ext cx="1037403" cy="534735"/>
            </a:xfrm>
            <a:custGeom>
              <a:avLst/>
              <a:gdLst/>
              <a:ahLst/>
              <a:cxnLst/>
              <a:rect r="r" b="b" t="t" l="l"/>
              <a:pathLst>
                <a:path h="534735" w="1037403">
                  <a:moveTo>
                    <a:pt x="0" y="0"/>
                  </a:moveTo>
                  <a:lnTo>
                    <a:pt x="1037403" y="0"/>
                  </a:lnTo>
                  <a:lnTo>
                    <a:pt x="1037403" y="534735"/>
                  </a:lnTo>
                  <a:lnTo>
                    <a:pt x="0" y="534735"/>
                  </a:lnTo>
                  <a:close/>
                </a:path>
              </a:pathLst>
            </a:custGeom>
            <a:solidFill>
              <a:srgbClr val="4FCDCC"/>
            </a:solidFill>
          </p:spPr>
        </p:sp>
        <p:sp>
          <p:nvSpPr>
            <p:cNvPr name="TextBox 11" id="11"/>
            <p:cNvSpPr txBox="true"/>
            <p:nvPr/>
          </p:nvSpPr>
          <p:spPr>
            <a:xfrm>
              <a:off x="0" y="-76200"/>
              <a:ext cx="1037403" cy="610935"/>
            </a:xfrm>
            <a:prstGeom prst="rect">
              <a:avLst/>
            </a:prstGeom>
          </p:spPr>
          <p:txBody>
            <a:bodyPr anchor="ctr" rtlCol="false" tIns="50800" lIns="50800" bIns="50800" rIns="50800"/>
            <a:lstStyle/>
            <a:p>
              <a:pPr algn="ctr">
                <a:lnSpc>
                  <a:spcPts val="5599"/>
                </a:lnSpc>
              </a:pPr>
              <a:r>
                <a:rPr lang="en-US" b="true" sz="3999" spc="199">
                  <a:solidFill>
                    <a:srgbClr val="FFFFFF"/>
                  </a:solidFill>
                  <a:latin typeface="Aileron Ultra-Bold"/>
                  <a:ea typeface="Aileron Ultra-Bold"/>
                  <a:cs typeface="Aileron Ultra-Bold"/>
                  <a:sym typeface="Aileron Ultra-Bold"/>
                </a:rPr>
                <a:t>Input</a:t>
              </a:r>
            </a:p>
          </p:txBody>
        </p:sp>
      </p:grpSp>
      <p:grpSp>
        <p:nvGrpSpPr>
          <p:cNvPr name="Group 12" id="12"/>
          <p:cNvGrpSpPr/>
          <p:nvPr/>
        </p:nvGrpSpPr>
        <p:grpSpPr>
          <a:xfrm rot="-10800000">
            <a:off x="5002165" y="7222482"/>
            <a:ext cx="617800" cy="529830"/>
            <a:chOff x="0" y="0"/>
            <a:chExt cx="7095546" cy="6339840"/>
          </a:xfrm>
        </p:grpSpPr>
        <p:sp>
          <p:nvSpPr>
            <p:cNvPr name="Freeform 13" id="13"/>
            <p:cNvSpPr/>
            <p:nvPr/>
          </p:nvSpPr>
          <p:spPr>
            <a:xfrm flipH="false" flipV="false" rot="0">
              <a:off x="0" y="0"/>
              <a:ext cx="7095546" cy="6339840"/>
            </a:xfrm>
            <a:custGeom>
              <a:avLst/>
              <a:gdLst/>
              <a:ahLst/>
              <a:cxnLst/>
              <a:rect r="r" b="b" t="t" l="l"/>
              <a:pathLst>
                <a:path h="6339840" w="7095546">
                  <a:moveTo>
                    <a:pt x="7095546" y="6339840"/>
                  </a:moveTo>
                  <a:lnTo>
                    <a:pt x="0" y="6339840"/>
                  </a:lnTo>
                  <a:lnTo>
                    <a:pt x="0" y="0"/>
                  </a:lnTo>
                  <a:close/>
                </a:path>
              </a:pathLst>
            </a:custGeom>
            <a:solidFill>
              <a:srgbClr val="18B6B4">
                <a:alpha val="49804"/>
              </a:srgbClr>
            </a:solidFill>
          </p:spPr>
        </p:sp>
      </p:grpSp>
      <p:grpSp>
        <p:nvGrpSpPr>
          <p:cNvPr name="Group 14" id="14"/>
          <p:cNvGrpSpPr/>
          <p:nvPr/>
        </p:nvGrpSpPr>
        <p:grpSpPr>
          <a:xfrm rot="0">
            <a:off x="5002165" y="5479477"/>
            <a:ext cx="3381485" cy="1743005"/>
            <a:chOff x="0" y="0"/>
            <a:chExt cx="1037403" cy="534735"/>
          </a:xfrm>
        </p:grpSpPr>
        <p:sp>
          <p:nvSpPr>
            <p:cNvPr name="Freeform 15" id="15"/>
            <p:cNvSpPr/>
            <p:nvPr/>
          </p:nvSpPr>
          <p:spPr>
            <a:xfrm flipH="false" flipV="false" rot="0">
              <a:off x="0" y="0"/>
              <a:ext cx="1037403" cy="534735"/>
            </a:xfrm>
            <a:custGeom>
              <a:avLst/>
              <a:gdLst/>
              <a:ahLst/>
              <a:cxnLst/>
              <a:rect r="r" b="b" t="t" l="l"/>
              <a:pathLst>
                <a:path h="534735" w="1037403">
                  <a:moveTo>
                    <a:pt x="0" y="0"/>
                  </a:moveTo>
                  <a:lnTo>
                    <a:pt x="1037403" y="0"/>
                  </a:lnTo>
                  <a:lnTo>
                    <a:pt x="1037403" y="534735"/>
                  </a:lnTo>
                  <a:lnTo>
                    <a:pt x="0" y="534735"/>
                  </a:lnTo>
                  <a:close/>
                </a:path>
              </a:pathLst>
            </a:custGeom>
            <a:solidFill>
              <a:srgbClr val="18B6B4"/>
            </a:solidFill>
          </p:spPr>
        </p:sp>
        <p:sp>
          <p:nvSpPr>
            <p:cNvPr name="TextBox 16" id="16"/>
            <p:cNvSpPr txBox="true"/>
            <p:nvPr/>
          </p:nvSpPr>
          <p:spPr>
            <a:xfrm>
              <a:off x="0" y="-57150"/>
              <a:ext cx="1037403" cy="591885"/>
            </a:xfrm>
            <a:prstGeom prst="rect">
              <a:avLst/>
            </a:prstGeom>
          </p:spPr>
          <p:txBody>
            <a:bodyPr anchor="ctr" rtlCol="false" tIns="50800" lIns="50800" bIns="50800" rIns="50800"/>
            <a:lstStyle/>
            <a:p>
              <a:pPr algn="ctr">
                <a:lnSpc>
                  <a:spcPts val="4060"/>
                </a:lnSpc>
              </a:pPr>
              <a:r>
                <a:rPr lang="en-US" b="true" sz="2900" spc="145">
                  <a:solidFill>
                    <a:srgbClr val="FFFFFF"/>
                  </a:solidFill>
                  <a:latin typeface="Aileron Ultra-Bold"/>
                  <a:ea typeface="Aileron Ultra-Bold"/>
                  <a:cs typeface="Aileron Ultra-Bold"/>
                  <a:sym typeface="Aileron Ultra-Bold"/>
                </a:rPr>
                <a:t>Request Handling</a:t>
              </a:r>
            </a:p>
          </p:txBody>
        </p:sp>
      </p:grpSp>
      <p:grpSp>
        <p:nvGrpSpPr>
          <p:cNvPr name="Group 17" id="17"/>
          <p:cNvGrpSpPr/>
          <p:nvPr/>
        </p:nvGrpSpPr>
        <p:grpSpPr>
          <a:xfrm rot="0">
            <a:off x="7815478" y="4949647"/>
            <a:ext cx="3381485" cy="1743005"/>
            <a:chOff x="0" y="0"/>
            <a:chExt cx="1037403" cy="534735"/>
          </a:xfrm>
        </p:grpSpPr>
        <p:sp>
          <p:nvSpPr>
            <p:cNvPr name="Freeform 18" id="18"/>
            <p:cNvSpPr/>
            <p:nvPr/>
          </p:nvSpPr>
          <p:spPr>
            <a:xfrm flipH="false" flipV="false" rot="0">
              <a:off x="0" y="0"/>
              <a:ext cx="1037403" cy="534735"/>
            </a:xfrm>
            <a:custGeom>
              <a:avLst/>
              <a:gdLst/>
              <a:ahLst/>
              <a:cxnLst/>
              <a:rect r="r" b="b" t="t" l="l"/>
              <a:pathLst>
                <a:path h="534735" w="1037403">
                  <a:moveTo>
                    <a:pt x="0" y="0"/>
                  </a:moveTo>
                  <a:lnTo>
                    <a:pt x="1037403" y="0"/>
                  </a:lnTo>
                  <a:lnTo>
                    <a:pt x="1037403" y="534735"/>
                  </a:lnTo>
                  <a:lnTo>
                    <a:pt x="0" y="534735"/>
                  </a:lnTo>
                  <a:close/>
                </a:path>
              </a:pathLst>
            </a:custGeom>
            <a:solidFill>
              <a:srgbClr val="37C9EF"/>
            </a:solidFill>
          </p:spPr>
        </p:sp>
        <p:sp>
          <p:nvSpPr>
            <p:cNvPr name="TextBox 19" id="19"/>
            <p:cNvSpPr txBox="true"/>
            <p:nvPr/>
          </p:nvSpPr>
          <p:spPr>
            <a:xfrm>
              <a:off x="0" y="-57150"/>
              <a:ext cx="1037403" cy="591885"/>
            </a:xfrm>
            <a:prstGeom prst="rect">
              <a:avLst/>
            </a:prstGeom>
          </p:spPr>
          <p:txBody>
            <a:bodyPr anchor="ctr" rtlCol="false" tIns="50800" lIns="50800" bIns="50800" rIns="50800"/>
            <a:lstStyle/>
            <a:p>
              <a:pPr algn="ctr">
                <a:lnSpc>
                  <a:spcPts val="4060"/>
                </a:lnSpc>
              </a:pPr>
              <a:r>
                <a:rPr lang="en-US" b="true" sz="2900" spc="145">
                  <a:solidFill>
                    <a:srgbClr val="FFFFFF"/>
                  </a:solidFill>
                  <a:latin typeface="Aileron Ultra-Bold"/>
                  <a:ea typeface="Aileron Ultra-Bold"/>
                  <a:cs typeface="Aileron Ultra-Bold"/>
                  <a:sym typeface="Aileron Ultra-Bold"/>
                </a:rPr>
                <a:t>Task Distribution</a:t>
              </a:r>
            </a:p>
          </p:txBody>
        </p:sp>
      </p:grpSp>
      <p:grpSp>
        <p:nvGrpSpPr>
          <p:cNvPr name="Group 20" id="20"/>
          <p:cNvGrpSpPr/>
          <p:nvPr/>
        </p:nvGrpSpPr>
        <p:grpSpPr>
          <a:xfrm rot="0">
            <a:off x="10603976" y="4424417"/>
            <a:ext cx="3381485" cy="1743005"/>
            <a:chOff x="0" y="0"/>
            <a:chExt cx="1037403" cy="534735"/>
          </a:xfrm>
        </p:grpSpPr>
        <p:sp>
          <p:nvSpPr>
            <p:cNvPr name="Freeform 21" id="21"/>
            <p:cNvSpPr/>
            <p:nvPr/>
          </p:nvSpPr>
          <p:spPr>
            <a:xfrm flipH="false" flipV="false" rot="0">
              <a:off x="0" y="0"/>
              <a:ext cx="1037403" cy="534735"/>
            </a:xfrm>
            <a:custGeom>
              <a:avLst/>
              <a:gdLst/>
              <a:ahLst/>
              <a:cxnLst/>
              <a:rect r="r" b="b" t="t" l="l"/>
              <a:pathLst>
                <a:path h="534735" w="1037403">
                  <a:moveTo>
                    <a:pt x="0" y="0"/>
                  </a:moveTo>
                  <a:lnTo>
                    <a:pt x="1037403" y="0"/>
                  </a:lnTo>
                  <a:lnTo>
                    <a:pt x="1037403" y="534735"/>
                  </a:lnTo>
                  <a:lnTo>
                    <a:pt x="0" y="534735"/>
                  </a:lnTo>
                  <a:close/>
                </a:path>
              </a:pathLst>
            </a:custGeom>
            <a:solidFill>
              <a:srgbClr val="2C92D5"/>
            </a:solidFill>
          </p:spPr>
        </p:sp>
        <p:sp>
          <p:nvSpPr>
            <p:cNvPr name="TextBox 22" id="22"/>
            <p:cNvSpPr txBox="true"/>
            <p:nvPr/>
          </p:nvSpPr>
          <p:spPr>
            <a:xfrm>
              <a:off x="0" y="-57150"/>
              <a:ext cx="1037403" cy="591885"/>
            </a:xfrm>
            <a:prstGeom prst="rect">
              <a:avLst/>
            </a:prstGeom>
          </p:spPr>
          <p:txBody>
            <a:bodyPr anchor="ctr" rtlCol="false" tIns="50800" lIns="50800" bIns="50800" rIns="50800"/>
            <a:lstStyle/>
            <a:p>
              <a:pPr algn="ctr">
                <a:lnSpc>
                  <a:spcPts val="4340"/>
                </a:lnSpc>
              </a:pPr>
              <a:r>
                <a:rPr lang="en-US" b="true" sz="3100" spc="155">
                  <a:solidFill>
                    <a:srgbClr val="FFFFFF"/>
                  </a:solidFill>
                  <a:latin typeface="Aileron Ultra-Bold"/>
                  <a:ea typeface="Aileron Ultra-Bold"/>
                  <a:cs typeface="Aileron Ultra-Bold"/>
                  <a:sym typeface="Aileron Ultra-Bold"/>
                </a:rPr>
                <a:t>Detection</a:t>
              </a:r>
            </a:p>
          </p:txBody>
        </p:sp>
      </p:grpSp>
      <p:grpSp>
        <p:nvGrpSpPr>
          <p:cNvPr name="Group 23" id="23"/>
          <p:cNvGrpSpPr/>
          <p:nvPr/>
        </p:nvGrpSpPr>
        <p:grpSpPr>
          <a:xfrm rot="-10800000">
            <a:off x="10594839" y="6162821"/>
            <a:ext cx="592986" cy="529830"/>
            <a:chOff x="0" y="0"/>
            <a:chExt cx="7095546" cy="6339840"/>
          </a:xfrm>
        </p:grpSpPr>
        <p:sp>
          <p:nvSpPr>
            <p:cNvPr name="Freeform 24" id="24"/>
            <p:cNvSpPr/>
            <p:nvPr/>
          </p:nvSpPr>
          <p:spPr>
            <a:xfrm flipH="false" flipV="false" rot="0">
              <a:off x="0" y="0"/>
              <a:ext cx="7095546" cy="6339840"/>
            </a:xfrm>
            <a:custGeom>
              <a:avLst/>
              <a:gdLst/>
              <a:ahLst/>
              <a:cxnLst/>
              <a:rect r="r" b="b" t="t" l="l"/>
              <a:pathLst>
                <a:path h="6339840" w="7095546">
                  <a:moveTo>
                    <a:pt x="7095546" y="6339840"/>
                  </a:moveTo>
                  <a:lnTo>
                    <a:pt x="0" y="6339840"/>
                  </a:lnTo>
                  <a:lnTo>
                    <a:pt x="0" y="0"/>
                  </a:lnTo>
                  <a:close/>
                </a:path>
              </a:pathLst>
            </a:custGeom>
            <a:solidFill>
              <a:srgbClr val="2C92D5">
                <a:alpha val="49804"/>
              </a:srgbClr>
            </a:solidFill>
          </p:spPr>
        </p:sp>
      </p:grpSp>
      <p:grpSp>
        <p:nvGrpSpPr>
          <p:cNvPr name="Group 25" id="25"/>
          <p:cNvGrpSpPr/>
          <p:nvPr/>
        </p:nvGrpSpPr>
        <p:grpSpPr>
          <a:xfrm rot="-10800000">
            <a:off x="7799801" y="6692652"/>
            <a:ext cx="592986" cy="529830"/>
            <a:chOff x="0" y="0"/>
            <a:chExt cx="7095546" cy="6339840"/>
          </a:xfrm>
        </p:grpSpPr>
        <p:sp>
          <p:nvSpPr>
            <p:cNvPr name="Freeform 26" id="26"/>
            <p:cNvSpPr/>
            <p:nvPr/>
          </p:nvSpPr>
          <p:spPr>
            <a:xfrm flipH="false" flipV="false" rot="0">
              <a:off x="0" y="0"/>
              <a:ext cx="7095546" cy="6339840"/>
            </a:xfrm>
            <a:custGeom>
              <a:avLst/>
              <a:gdLst/>
              <a:ahLst/>
              <a:cxnLst/>
              <a:rect r="r" b="b" t="t" l="l"/>
              <a:pathLst>
                <a:path h="6339840" w="7095546">
                  <a:moveTo>
                    <a:pt x="7095546" y="6339840"/>
                  </a:moveTo>
                  <a:lnTo>
                    <a:pt x="0" y="6339840"/>
                  </a:lnTo>
                  <a:lnTo>
                    <a:pt x="0" y="0"/>
                  </a:lnTo>
                  <a:close/>
                </a:path>
              </a:pathLst>
            </a:custGeom>
            <a:solidFill>
              <a:srgbClr val="37C9EF">
                <a:alpha val="49804"/>
              </a:srgbClr>
            </a:solidFill>
          </p:spPr>
        </p:sp>
      </p:grpSp>
      <p:grpSp>
        <p:nvGrpSpPr>
          <p:cNvPr name="Group 27" id="27"/>
          <p:cNvGrpSpPr/>
          <p:nvPr/>
        </p:nvGrpSpPr>
        <p:grpSpPr>
          <a:xfrm rot="0">
            <a:off x="13386982" y="2994499"/>
            <a:ext cx="4341646" cy="3451645"/>
            <a:chOff x="0" y="0"/>
            <a:chExt cx="1092244" cy="868343"/>
          </a:xfrm>
        </p:grpSpPr>
        <p:sp>
          <p:nvSpPr>
            <p:cNvPr name="Freeform 28" id="28"/>
            <p:cNvSpPr/>
            <p:nvPr/>
          </p:nvSpPr>
          <p:spPr>
            <a:xfrm flipH="false" flipV="false" rot="0">
              <a:off x="0" y="0"/>
              <a:ext cx="1092244" cy="868343"/>
            </a:xfrm>
            <a:custGeom>
              <a:avLst/>
              <a:gdLst/>
              <a:ahLst/>
              <a:cxnLst/>
              <a:rect r="r" b="b" t="t" l="l"/>
              <a:pathLst>
                <a:path h="868343" w="1092244">
                  <a:moveTo>
                    <a:pt x="1092244" y="434171"/>
                  </a:moveTo>
                  <a:lnTo>
                    <a:pt x="685844" y="0"/>
                  </a:lnTo>
                  <a:lnTo>
                    <a:pt x="685844" y="203200"/>
                  </a:lnTo>
                  <a:lnTo>
                    <a:pt x="0" y="203200"/>
                  </a:lnTo>
                  <a:lnTo>
                    <a:pt x="0" y="665143"/>
                  </a:lnTo>
                  <a:lnTo>
                    <a:pt x="685844" y="665143"/>
                  </a:lnTo>
                  <a:lnTo>
                    <a:pt x="685844" y="868343"/>
                  </a:lnTo>
                  <a:lnTo>
                    <a:pt x="1092244" y="434171"/>
                  </a:lnTo>
                  <a:close/>
                </a:path>
              </a:pathLst>
            </a:custGeom>
            <a:solidFill>
              <a:srgbClr val="13538A"/>
            </a:solidFill>
          </p:spPr>
        </p:sp>
        <p:sp>
          <p:nvSpPr>
            <p:cNvPr name="TextBox 29" id="29"/>
            <p:cNvSpPr txBox="true"/>
            <p:nvPr/>
          </p:nvSpPr>
          <p:spPr>
            <a:xfrm>
              <a:off x="0" y="127000"/>
              <a:ext cx="990644" cy="538143"/>
            </a:xfrm>
            <a:prstGeom prst="rect">
              <a:avLst/>
            </a:prstGeom>
          </p:spPr>
          <p:txBody>
            <a:bodyPr anchor="ctr" rtlCol="false" tIns="50800" lIns="50800" bIns="50800" rIns="50800"/>
            <a:lstStyle/>
            <a:p>
              <a:pPr algn="ctr">
                <a:lnSpc>
                  <a:spcPts val="5599"/>
                </a:lnSpc>
              </a:pPr>
              <a:r>
                <a:rPr lang="en-US" b="true" sz="3999" spc="199">
                  <a:solidFill>
                    <a:srgbClr val="FFFFFF"/>
                  </a:solidFill>
                  <a:latin typeface="Aileron Ultra-Bold"/>
                  <a:ea typeface="Aileron Ultra-Bold"/>
                  <a:cs typeface="Aileron Ultra-Bold"/>
                  <a:sym typeface="Aileron Ultra-Bold"/>
                </a:rPr>
                <a:t>Response</a:t>
              </a:r>
            </a:p>
          </p:txBody>
        </p:sp>
      </p:grpSp>
      <p:grpSp>
        <p:nvGrpSpPr>
          <p:cNvPr name="Group 30" id="30"/>
          <p:cNvGrpSpPr/>
          <p:nvPr/>
        </p:nvGrpSpPr>
        <p:grpSpPr>
          <a:xfrm rot="-10800000">
            <a:off x="13377845" y="5632991"/>
            <a:ext cx="592986" cy="529830"/>
            <a:chOff x="0" y="0"/>
            <a:chExt cx="7095546" cy="6339840"/>
          </a:xfrm>
        </p:grpSpPr>
        <p:sp>
          <p:nvSpPr>
            <p:cNvPr name="Freeform 31" id="31"/>
            <p:cNvSpPr/>
            <p:nvPr/>
          </p:nvSpPr>
          <p:spPr>
            <a:xfrm flipH="false" flipV="false" rot="0">
              <a:off x="0" y="0"/>
              <a:ext cx="7095546" cy="6339840"/>
            </a:xfrm>
            <a:custGeom>
              <a:avLst/>
              <a:gdLst/>
              <a:ahLst/>
              <a:cxnLst/>
              <a:rect r="r" b="b" t="t" l="l"/>
              <a:pathLst>
                <a:path h="6339840" w="7095546">
                  <a:moveTo>
                    <a:pt x="7095546" y="6339840"/>
                  </a:moveTo>
                  <a:lnTo>
                    <a:pt x="0" y="6339840"/>
                  </a:lnTo>
                  <a:lnTo>
                    <a:pt x="0" y="0"/>
                  </a:lnTo>
                  <a:close/>
                </a:path>
              </a:pathLst>
            </a:custGeom>
            <a:solidFill>
              <a:srgbClr val="13538A">
                <a:alpha val="49804"/>
              </a:srgbClr>
            </a:solidFill>
          </p:spPr>
        </p:sp>
      </p:grpSp>
      <p:sp>
        <p:nvSpPr>
          <p:cNvPr name="TextBox 32" id="32"/>
          <p:cNvSpPr txBox="true"/>
          <p:nvPr/>
        </p:nvSpPr>
        <p:spPr>
          <a:xfrm rot="0">
            <a:off x="1718510" y="4031524"/>
            <a:ext cx="3039670" cy="1553030"/>
          </a:xfrm>
          <a:prstGeom prst="rect">
            <a:avLst/>
          </a:prstGeom>
        </p:spPr>
        <p:txBody>
          <a:bodyPr anchor="t" rtlCol="false" tIns="0" lIns="0" bIns="0" rIns="0">
            <a:spAutoFit/>
          </a:bodyPr>
          <a:lstStyle/>
          <a:p>
            <a:pPr algn="just" marL="0" indent="0" lvl="0">
              <a:lnSpc>
                <a:spcPts val="3124"/>
              </a:lnSpc>
            </a:pPr>
            <a:r>
              <a:rPr lang="en-US" sz="2232" spc="66">
                <a:solidFill>
                  <a:srgbClr val="191919"/>
                </a:solidFill>
                <a:latin typeface="Aileron"/>
                <a:ea typeface="Aileron"/>
                <a:cs typeface="Aileron"/>
                <a:sym typeface="Aileron"/>
              </a:rPr>
              <a:t>The user provides an image or ini</a:t>
            </a:r>
            <a:r>
              <a:rPr lang="en-US" sz="2232" spc="66" u="none">
                <a:solidFill>
                  <a:srgbClr val="191919"/>
                </a:solidFill>
                <a:latin typeface="Aileron"/>
                <a:ea typeface="Aileron"/>
                <a:cs typeface="Aileron"/>
                <a:sym typeface="Aileron"/>
              </a:rPr>
              <a:t>tiates a live camera stream via the React frontend</a:t>
            </a:r>
          </a:p>
        </p:txBody>
      </p:sp>
      <p:sp>
        <p:nvSpPr>
          <p:cNvPr name="TextBox 33" id="33"/>
          <p:cNvSpPr txBox="true"/>
          <p:nvPr/>
        </p:nvSpPr>
        <p:spPr>
          <a:xfrm rot="0">
            <a:off x="4983308" y="7927788"/>
            <a:ext cx="3812410" cy="1550238"/>
          </a:xfrm>
          <a:prstGeom prst="rect">
            <a:avLst/>
          </a:prstGeom>
        </p:spPr>
        <p:txBody>
          <a:bodyPr anchor="t" rtlCol="false" tIns="0" lIns="0" bIns="0" rIns="0">
            <a:spAutoFit/>
          </a:bodyPr>
          <a:lstStyle/>
          <a:p>
            <a:pPr algn="l" marL="0" indent="0" lvl="0">
              <a:lnSpc>
                <a:spcPts val="3157"/>
              </a:lnSpc>
            </a:pPr>
            <a:r>
              <a:rPr lang="en-US" sz="2255" spc="67">
                <a:solidFill>
                  <a:srgbClr val="191919"/>
                </a:solidFill>
                <a:latin typeface="Aileron"/>
                <a:ea typeface="Aileron"/>
                <a:cs typeface="Aileron"/>
                <a:sym typeface="Aileron"/>
              </a:rPr>
              <a:t>Fast</a:t>
            </a:r>
            <a:r>
              <a:rPr lang="en-US" sz="2255" spc="67" u="none">
                <a:solidFill>
                  <a:srgbClr val="191919"/>
                </a:solidFill>
                <a:latin typeface="Aileron"/>
                <a:ea typeface="Aileron"/>
                <a:cs typeface="Aileron"/>
                <a:sym typeface="Aileron"/>
              </a:rPr>
              <a:t>API takes the incoming data. For live streams, this happens over WebSocket connection</a:t>
            </a:r>
          </a:p>
        </p:txBody>
      </p:sp>
      <p:sp>
        <p:nvSpPr>
          <p:cNvPr name="TextBox 34" id="34"/>
          <p:cNvSpPr txBox="true"/>
          <p:nvPr/>
        </p:nvSpPr>
        <p:spPr>
          <a:xfrm rot="0">
            <a:off x="6889513" y="3224215"/>
            <a:ext cx="3526442" cy="1560931"/>
          </a:xfrm>
          <a:prstGeom prst="rect">
            <a:avLst/>
          </a:prstGeom>
        </p:spPr>
        <p:txBody>
          <a:bodyPr anchor="t" rtlCol="false" tIns="0" lIns="0" bIns="0" rIns="0">
            <a:spAutoFit/>
          </a:bodyPr>
          <a:lstStyle/>
          <a:p>
            <a:pPr algn="ctr" marL="0" indent="0" lvl="0">
              <a:lnSpc>
                <a:spcPts val="3124"/>
              </a:lnSpc>
            </a:pPr>
            <a:r>
              <a:rPr lang="en-US" sz="2232" spc="66">
                <a:solidFill>
                  <a:srgbClr val="191919"/>
                </a:solidFill>
                <a:latin typeface="Aileron"/>
                <a:ea typeface="Aileron"/>
                <a:cs typeface="Aileron"/>
                <a:sym typeface="Aileron"/>
              </a:rPr>
              <a:t>Ray picks up the </a:t>
            </a:r>
            <a:r>
              <a:rPr lang="en-US" sz="2232" spc="66" u="none">
                <a:solidFill>
                  <a:srgbClr val="191919"/>
                </a:solidFill>
                <a:latin typeface="Aileron"/>
                <a:ea typeface="Aileron"/>
                <a:cs typeface="Aileron"/>
                <a:sym typeface="Aileron"/>
              </a:rPr>
              <a:t>request and assigns it to an available worker node to ensure parallel execution.</a:t>
            </a:r>
          </a:p>
        </p:txBody>
      </p:sp>
      <p:sp>
        <p:nvSpPr>
          <p:cNvPr name="TextBox 35" id="35"/>
          <p:cNvSpPr txBox="true"/>
          <p:nvPr/>
        </p:nvSpPr>
        <p:spPr>
          <a:xfrm rot="0">
            <a:off x="10902615" y="7165789"/>
            <a:ext cx="2784206" cy="1560931"/>
          </a:xfrm>
          <a:prstGeom prst="rect">
            <a:avLst/>
          </a:prstGeom>
        </p:spPr>
        <p:txBody>
          <a:bodyPr anchor="t" rtlCol="false" tIns="0" lIns="0" bIns="0" rIns="0">
            <a:spAutoFit/>
          </a:bodyPr>
          <a:lstStyle/>
          <a:p>
            <a:pPr algn="ctr" marL="0" indent="0" lvl="0">
              <a:lnSpc>
                <a:spcPts val="3124"/>
              </a:lnSpc>
            </a:pPr>
            <a:r>
              <a:rPr lang="en-US" sz="2232" spc="66">
                <a:solidFill>
                  <a:srgbClr val="191919"/>
                </a:solidFill>
                <a:latin typeface="Aileron"/>
                <a:ea typeface="Aileron"/>
                <a:cs typeface="Aileron"/>
                <a:sym typeface="Aileron"/>
              </a:rPr>
              <a:t>The</a:t>
            </a:r>
            <a:r>
              <a:rPr lang="en-US" sz="2232" spc="66" u="none">
                <a:solidFill>
                  <a:srgbClr val="191919"/>
                </a:solidFill>
                <a:latin typeface="Aileron"/>
                <a:ea typeface="Aileron"/>
                <a:cs typeface="Aileron"/>
                <a:sym typeface="Aileron"/>
              </a:rPr>
              <a:t> YOLOv8 model analyzes the frame to identify potential weapons</a:t>
            </a:r>
          </a:p>
        </p:txBody>
      </p:sp>
      <p:sp>
        <p:nvSpPr>
          <p:cNvPr name="TextBox 36" id="36"/>
          <p:cNvSpPr txBox="true"/>
          <p:nvPr/>
        </p:nvSpPr>
        <p:spPr>
          <a:xfrm rot="0">
            <a:off x="10902615" y="1976350"/>
            <a:ext cx="5224889" cy="1560931"/>
          </a:xfrm>
          <a:prstGeom prst="rect">
            <a:avLst/>
          </a:prstGeom>
        </p:spPr>
        <p:txBody>
          <a:bodyPr anchor="t" rtlCol="false" tIns="0" lIns="0" bIns="0" rIns="0">
            <a:spAutoFit/>
          </a:bodyPr>
          <a:lstStyle/>
          <a:p>
            <a:pPr algn="ctr" marL="0" indent="0" lvl="0">
              <a:lnSpc>
                <a:spcPts val="3124"/>
              </a:lnSpc>
            </a:pPr>
            <a:r>
              <a:rPr lang="en-US" sz="2232" spc="66">
                <a:solidFill>
                  <a:srgbClr val="191919"/>
                </a:solidFill>
                <a:latin typeface="Aileron"/>
                <a:ea typeface="Aileron"/>
                <a:cs typeface="Aileron"/>
                <a:sym typeface="Aileron"/>
              </a:rPr>
              <a:t>OpenCV draws bounding boxes and </a:t>
            </a:r>
            <a:r>
              <a:rPr lang="en-US" sz="2232" spc="66" u="none">
                <a:solidFill>
                  <a:srgbClr val="191919"/>
                </a:solidFill>
                <a:latin typeface="Aileron"/>
                <a:ea typeface="Aileron"/>
                <a:cs typeface="Aileron"/>
                <a:sym typeface="Aileron"/>
              </a:rPr>
              <a:t>labels on the frame. The processed data (or annotated frame) is sent back to the frontend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5068265" y="720932"/>
            <a:ext cx="8151469" cy="1118778"/>
          </a:xfrm>
          <a:prstGeom prst="rect">
            <a:avLst/>
          </a:prstGeom>
        </p:spPr>
        <p:txBody>
          <a:bodyPr anchor="t" rtlCol="false" tIns="0" lIns="0" bIns="0" rIns="0">
            <a:spAutoFit/>
          </a:bodyPr>
          <a:lstStyle/>
          <a:p>
            <a:pPr algn="ctr" marL="0" indent="0" lvl="0">
              <a:lnSpc>
                <a:spcPts val="8751"/>
              </a:lnSpc>
              <a:spcBef>
                <a:spcPct val="0"/>
              </a:spcBef>
            </a:pPr>
            <a:r>
              <a:rPr lang="en-US" b="true" sz="7292" spc="72">
                <a:solidFill>
                  <a:srgbClr val="000000"/>
                </a:solidFill>
                <a:latin typeface="Sansation Bold"/>
                <a:ea typeface="Sansation Bold"/>
                <a:cs typeface="Sansation Bold"/>
                <a:sym typeface="Sansation Bold"/>
              </a:rPr>
              <a:t>MODEL TRAINING</a:t>
            </a:r>
          </a:p>
        </p:txBody>
      </p:sp>
      <p:sp>
        <p:nvSpPr>
          <p:cNvPr name="TextBox 9" id="9"/>
          <p:cNvSpPr txBox="true"/>
          <p:nvPr/>
        </p:nvSpPr>
        <p:spPr>
          <a:xfrm rot="0">
            <a:off x="2896021" y="1951990"/>
            <a:ext cx="12350621" cy="7306310"/>
          </a:xfrm>
          <a:prstGeom prst="rect">
            <a:avLst/>
          </a:prstGeom>
        </p:spPr>
        <p:txBody>
          <a:bodyPr anchor="t" rtlCol="false" tIns="0" lIns="0" bIns="0" rIns="0">
            <a:spAutoFit/>
          </a:bodyPr>
          <a:lstStyle/>
          <a:p>
            <a:pPr algn="l" marL="561341" indent="-280670" lvl="1">
              <a:lnSpc>
                <a:spcPts val="3640"/>
              </a:lnSpc>
              <a:buFont typeface="Arial"/>
              <a:buChar char="•"/>
            </a:pPr>
            <a:r>
              <a:rPr lang="en-US" sz="2600" spc="234">
                <a:solidFill>
                  <a:srgbClr val="000000"/>
                </a:solidFill>
                <a:latin typeface="Aileron"/>
                <a:ea typeface="Aileron"/>
                <a:cs typeface="Aileron"/>
                <a:sym typeface="Aileron"/>
              </a:rPr>
              <a:t>We used a  pre-buiilt YOLO model, specifically YOLOv8 nano, and then trained on a weapon detection dataset we obtained from roboflow. The dataset contained around 9k images, with around 7k being for training and the rest for testing and validation.</a:t>
            </a:r>
          </a:p>
          <a:p>
            <a:pPr algn="just">
              <a:lnSpc>
                <a:spcPts val="3640"/>
              </a:lnSpc>
            </a:pPr>
          </a:p>
          <a:p>
            <a:pPr algn="l" marL="561341" indent="-280670" lvl="1">
              <a:lnSpc>
                <a:spcPts val="3640"/>
              </a:lnSpc>
              <a:buFont typeface="Arial"/>
              <a:buChar char="•"/>
            </a:pPr>
            <a:r>
              <a:rPr lang="en-US" sz="2600" spc="234">
                <a:solidFill>
                  <a:srgbClr val="000000"/>
                </a:solidFill>
                <a:latin typeface="Aileron"/>
                <a:ea typeface="Aileron"/>
                <a:cs typeface="Aileron"/>
                <a:sym typeface="Aileron"/>
              </a:rPr>
              <a:t>We trained the model in two phases. For the first phase we used ray to distribute compute for the first 20 epochs. Then we fine tuned the model for 10 epochs without using ray. This approach was especially relevant on our relatively low compute power machines.</a:t>
            </a:r>
          </a:p>
          <a:p>
            <a:pPr algn="just">
              <a:lnSpc>
                <a:spcPts val="3640"/>
              </a:lnSpc>
            </a:pPr>
          </a:p>
          <a:p>
            <a:pPr algn="l" marL="561341" indent="-280670" lvl="1">
              <a:lnSpc>
                <a:spcPts val="3640"/>
              </a:lnSpc>
              <a:buFont typeface="Arial"/>
              <a:buChar char="•"/>
            </a:pPr>
            <a:r>
              <a:rPr lang="en-US" sz="2600" spc="234">
                <a:solidFill>
                  <a:srgbClr val="000000"/>
                </a:solidFill>
                <a:latin typeface="Aileron"/>
                <a:ea typeface="Aileron"/>
                <a:cs typeface="Aileron"/>
                <a:sym typeface="Aileron"/>
              </a:rPr>
              <a:t>Upon completion of the training cycle, the model achieved a high degree ofclassification accuracy and localization precision. The graphs for different types of losses over epochs for the second training cycle and a sample output are shown in the next few slides.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2977823" y="545849"/>
            <a:ext cx="12572089" cy="9429066"/>
          </a:xfrm>
          <a:custGeom>
            <a:avLst/>
            <a:gdLst/>
            <a:ahLst/>
            <a:cxnLst/>
            <a:rect r="r" b="b" t="t" l="l"/>
            <a:pathLst>
              <a:path h="9429066" w="12572089">
                <a:moveTo>
                  <a:pt x="0" y="0"/>
                </a:moveTo>
                <a:lnTo>
                  <a:pt x="12572089" y="0"/>
                </a:lnTo>
                <a:lnTo>
                  <a:pt x="12572089" y="9429067"/>
                </a:lnTo>
                <a:lnTo>
                  <a:pt x="0" y="9429067"/>
                </a:lnTo>
                <a:lnTo>
                  <a:pt x="0" y="0"/>
                </a:lnTo>
                <a:close/>
              </a:path>
            </a:pathLst>
          </a:custGeom>
          <a:blipFill>
            <a:blip r:embed="rId1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5514929" y="1105109"/>
            <a:ext cx="8285665" cy="8285665"/>
          </a:xfrm>
          <a:custGeom>
            <a:avLst/>
            <a:gdLst/>
            <a:ahLst/>
            <a:cxnLst/>
            <a:rect r="r" b="b" t="t" l="l"/>
            <a:pathLst>
              <a:path h="8285665" w="8285665">
                <a:moveTo>
                  <a:pt x="0" y="0"/>
                </a:moveTo>
                <a:lnTo>
                  <a:pt x="8285665" y="0"/>
                </a:lnTo>
                <a:lnTo>
                  <a:pt x="8285665" y="8285665"/>
                </a:lnTo>
                <a:lnTo>
                  <a:pt x="0" y="8285665"/>
                </a:lnTo>
                <a:lnTo>
                  <a:pt x="0" y="0"/>
                </a:lnTo>
                <a:close/>
              </a:path>
            </a:pathLst>
          </a:custGeom>
          <a:blipFill>
            <a:blip r:embed="rId1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688197" y="2301596"/>
            <a:ext cx="14991975" cy="7495987"/>
          </a:xfrm>
          <a:custGeom>
            <a:avLst/>
            <a:gdLst/>
            <a:ahLst/>
            <a:cxnLst/>
            <a:rect r="r" b="b" t="t" l="l"/>
            <a:pathLst>
              <a:path h="7495987" w="14991975">
                <a:moveTo>
                  <a:pt x="0" y="0"/>
                </a:moveTo>
                <a:lnTo>
                  <a:pt x="14991974" y="0"/>
                </a:lnTo>
                <a:lnTo>
                  <a:pt x="14991974" y="7495988"/>
                </a:lnTo>
                <a:lnTo>
                  <a:pt x="0" y="7495988"/>
                </a:lnTo>
                <a:lnTo>
                  <a:pt x="0" y="0"/>
                </a:lnTo>
                <a:close/>
              </a:path>
            </a:pathLst>
          </a:custGeom>
          <a:blipFill>
            <a:blip r:embed="rId1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249181" y="2002168"/>
            <a:ext cx="7388606" cy="7388606"/>
          </a:xfrm>
          <a:custGeom>
            <a:avLst/>
            <a:gdLst/>
            <a:ahLst/>
            <a:cxnLst/>
            <a:rect r="r" b="b" t="t" l="l"/>
            <a:pathLst>
              <a:path h="7388606" w="7388606">
                <a:moveTo>
                  <a:pt x="0" y="0"/>
                </a:moveTo>
                <a:lnTo>
                  <a:pt x="7388606" y="0"/>
                </a:lnTo>
                <a:lnTo>
                  <a:pt x="7388606" y="7388606"/>
                </a:lnTo>
                <a:lnTo>
                  <a:pt x="0" y="7388606"/>
                </a:lnTo>
                <a:lnTo>
                  <a:pt x="0" y="0"/>
                </a:lnTo>
                <a:close/>
              </a:path>
            </a:pathLst>
          </a:custGeom>
          <a:blipFill>
            <a:blip r:embed="rId14"/>
            <a:stretch>
              <a:fillRect l="0" t="0" r="0" b="0"/>
            </a:stretch>
          </a:blipFill>
        </p:spPr>
      </p:sp>
      <p:sp>
        <p:nvSpPr>
          <p:cNvPr name="Freeform 9" id="9"/>
          <p:cNvSpPr/>
          <p:nvPr/>
        </p:nvSpPr>
        <p:spPr>
          <a:xfrm flipH="false" flipV="false" rot="0">
            <a:off x="9594383" y="2023975"/>
            <a:ext cx="7375973" cy="7375973"/>
          </a:xfrm>
          <a:custGeom>
            <a:avLst/>
            <a:gdLst/>
            <a:ahLst/>
            <a:cxnLst/>
            <a:rect r="r" b="b" t="t" l="l"/>
            <a:pathLst>
              <a:path h="7375973" w="7375973">
                <a:moveTo>
                  <a:pt x="0" y="0"/>
                </a:moveTo>
                <a:lnTo>
                  <a:pt x="7375973" y="0"/>
                </a:lnTo>
                <a:lnTo>
                  <a:pt x="7375973" y="7375973"/>
                </a:lnTo>
                <a:lnTo>
                  <a:pt x="0" y="7375973"/>
                </a:lnTo>
                <a:lnTo>
                  <a:pt x="0" y="0"/>
                </a:lnTo>
                <a:close/>
              </a:path>
            </a:pathLst>
          </a:custGeom>
          <a:blipFill>
            <a:blip r:embed="rId1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3319746" y="1244914"/>
            <a:ext cx="11063987" cy="8145860"/>
          </a:xfrm>
          <a:custGeom>
            <a:avLst/>
            <a:gdLst/>
            <a:ahLst/>
            <a:cxnLst/>
            <a:rect r="r" b="b" t="t" l="l"/>
            <a:pathLst>
              <a:path h="8145860" w="11063987">
                <a:moveTo>
                  <a:pt x="0" y="0"/>
                </a:moveTo>
                <a:lnTo>
                  <a:pt x="11063987" y="0"/>
                </a:lnTo>
                <a:lnTo>
                  <a:pt x="11063987" y="8145860"/>
                </a:lnTo>
                <a:lnTo>
                  <a:pt x="0" y="8145860"/>
                </a:lnTo>
                <a:lnTo>
                  <a:pt x="0" y="0"/>
                </a:lnTo>
                <a:close/>
              </a:path>
            </a:pathLst>
          </a:custGeom>
          <a:blipFill>
            <a:blip r:embed="rId14"/>
            <a:stretch>
              <a:fillRect l="0" t="0" r="0" b="0"/>
            </a:stretch>
          </a:blipFill>
        </p:spPr>
      </p:sp>
      <p:sp>
        <p:nvSpPr>
          <p:cNvPr name="TextBox 9" id="9"/>
          <p:cNvSpPr txBox="true"/>
          <p:nvPr/>
        </p:nvSpPr>
        <p:spPr>
          <a:xfrm rot="0">
            <a:off x="4075480" y="298748"/>
            <a:ext cx="10137041" cy="853892"/>
          </a:xfrm>
          <a:prstGeom prst="rect">
            <a:avLst/>
          </a:prstGeom>
        </p:spPr>
        <p:txBody>
          <a:bodyPr anchor="t" rtlCol="false" tIns="0" lIns="0" bIns="0" rIns="0">
            <a:spAutoFit/>
          </a:bodyPr>
          <a:lstStyle/>
          <a:p>
            <a:pPr algn="ctr" marL="0" indent="0" lvl="0">
              <a:lnSpc>
                <a:spcPts val="6661"/>
              </a:lnSpc>
              <a:spcBef>
                <a:spcPct val="0"/>
              </a:spcBef>
            </a:pPr>
            <a:r>
              <a:rPr lang="en-US" b="true" sz="5551" spc="55">
                <a:solidFill>
                  <a:srgbClr val="000000"/>
                </a:solidFill>
                <a:latin typeface="Sansation Bold"/>
                <a:ea typeface="Sansation Bold"/>
                <a:cs typeface="Sansation Bold"/>
                <a:sym typeface="Sansation Bold"/>
              </a:rPr>
              <a:t>BACKEND FUNCTIONS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4100817" y="122605"/>
            <a:ext cx="10086365" cy="836964"/>
          </a:xfrm>
          <a:prstGeom prst="rect">
            <a:avLst/>
          </a:prstGeom>
        </p:spPr>
        <p:txBody>
          <a:bodyPr anchor="t" rtlCol="false" tIns="0" lIns="0" bIns="0" rIns="0">
            <a:spAutoFit/>
          </a:bodyPr>
          <a:lstStyle/>
          <a:p>
            <a:pPr algn="ctr" marL="0" indent="0" lvl="0">
              <a:lnSpc>
                <a:spcPts val="6527"/>
              </a:lnSpc>
              <a:spcBef>
                <a:spcPct val="0"/>
              </a:spcBef>
            </a:pPr>
            <a:r>
              <a:rPr lang="en-US" b="true" sz="5439" spc="54">
                <a:solidFill>
                  <a:srgbClr val="000000"/>
                </a:solidFill>
                <a:latin typeface="Sansation Bold"/>
                <a:ea typeface="Sansation Bold"/>
                <a:cs typeface="Sansation Bold"/>
                <a:sym typeface="Sansation Bold"/>
              </a:rPr>
              <a:t>LIVE VIDEO DETECTION</a:t>
            </a:r>
          </a:p>
        </p:txBody>
      </p:sp>
      <p:grpSp>
        <p:nvGrpSpPr>
          <p:cNvPr name="Group 9" id="9"/>
          <p:cNvGrpSpPr/>
          <p:nvPr/>
        </p:nvGrpSpPr>
        <p:grpSpPr>
          <a:xfrm rot="0">
            <a:off x="4854269" y="1476746"/>
            <a:ext cx="3086100" cy="1454060"/>
            <a:chOff x="0" y="0"/>
            <a:chExt cx="812800" cy="382962"/>
          </a:xfrm>
        </p:grpSpPr>
        <p:sp>
          <p:nvSpPr>
            <p:cNvPr name="Freeform 10" id="10"/>
            <p:cNvSpPr/>
            <p:nvPr/>
          </p:nvSpPr>
          <p:spPr>
            <a:xfrm flipH="false" flipV="false" rot="0">
              <a:off x="0" y="0"/>
              <a:ext cx="812800" cy="382962"/>
            </a:xfrm>
            <a:custGeom>
              <a:avLst/>
              <a:gdLst/>
              <a:ahLst/>
              <a:cxnLst/>
              <a:rect r="r" b="b" t="t" l="l"/>
              <a:pathLst>
                <a:path h="382962" w="812800">
                  <a:moveTo>
                    <a:pt x="0" y="0"/>
                  </a:moveTo>
                  <a:lnTo>
                    <a:pt x="812800" y="0"/>
                  </a:lnTo>
                  <a:lnTo>
                    <a:pt x="812800" y="382962"/>
                  </a:lnTo>
                  <a:lnTo>
                    <a:pt x="0" y="382962"/>
                  </a:lnTo>
                  <a:close/>
                </a:path>
              </a:pathLst>
            </a:custGeom>
            <a:solidFill>
              <a:srgbClr val="7CD4D2"/>
            </a:solidFill>
          </p:spPr>
        </p:sp>
        <p:sp>
          <p:nvSpPr>
            <p:cNvPr name="TextBox 11" id="11"/>
            <p:cNvSpPr txBox="true"/>
            <p:nvPr/>
          </p:nvSpPr>
          <p:spPr>
            <a:xfrm>
              <a:off x="0" y="-57150"/>
              <a:ext cx="812800" cy="440112"/>
            </a:xfrm>
            <a:prstGeom prst="rect">
              <a:avLst/>
            </a:prstGeom>
          </p:spPr>
          <p:txBody>
            <a:bodyPr anchor="ctr" rtlCol="false" tIns="254000" lIns="254000" bIns="254000" rIns="254000"/>
            <a:lstStyle/>
            <a:p>
              <a:pPr algn="ctr">
                <a:lnSpc>
                  <a:spcPts val="3640"/>
                </a:lnSpc>
              </a:pPr>
              <a:r>
                <a:rPr lang="en-US" sz="2600" i="true" spc="234">
                  <a:solidFill>
                    <a:srgbClr val="FFFFFF"/>
                  </a:solidFill>
                  <a:latin typeface="Aileron Italics"/>
                  <a:ea typeface="Aileron Italics"/>
                  <a:cs typeface="Aileron Italics"/>
                  <a:sym typeface="Aileron Italics"/>
                </a:rPr>
                <a:t>Capture</a:t>
              </a:r>
            </a:p>
          </p:txBody>
        </p:sp>
      </p:grpSp>
      <p:grpSp>
        <p:nvGrpSpPr>
          <p:cNvPr name="Group 12" id="12"/>
          <p:cNvGrpSpPr/>
          <p:nvPr/>
        </p:nvGrpSpPr>
        <p:grpSpPr>
          <a:xfrm rot="0">
            <a:off x="4001393" y="1476746"/>
            <a:ext cx="852876" cy="1454060"/>
            <a:chOff x="0" y="0"/>
            <a:chExt cx="224626" cy="382962"/>
          </a:xfrm>
        </p:grpSpPr>
        <p:sp>
          <p:nvSpPr>
            <p:cNvPr name="Freeform 13" id="13"/>
            <p:cNvSpPr/>
            <p:nvPr/>
          </p:nvSpPr>
          <p:spPr>
            <a:xfrm flipH="false" flipV="false" rot="0">
              <a:off x="0" y="0"/>
              <a:ext cx="224626" cy="382962"/>
            </a:xfrm>
            <a:custGeom>
              <a:avLst/>
              <a:gdLst/>
              <a:ahLst/>
              <a:cxnLst/>
              <a:rect r="r" b="b" t="t" l="l"/>
              <a:pathLst>
                <a:path h="382962" w="224626">
                  <a:moveTo>
                    <a:pt x="0" y="0"/>
                  </a:moveTo>
                  <a:lnTo>
                    <a:pt x="224626" y="0"/>
                  </a:lnTo>
                  <a:lnTo>
                    <a:pt x="224626" y="382962"/>
                  </a:lnTo>
                  <a:lnTo>
                    <a:pt x="0" y="382962"/>
                  </a:lnTo>
                  <a:close/>
                </a:path>
              </a:pathLst>
            </a:custGeom>
            <a:solidFill>
              <a:srgbClr val="E0F4F4"/>
            </a:solidFill>
          </p:spPr>
        </p:sp>
        <p:sp>
          <p:nvSpPr>
            <p:cNvPr name="TextBox 14" id="14"/>
            <p:cNvSpPr txBox="true"/>
            <p:nvPr/>
          </p:nvSpPr>
          <p:spPr>
            <a:xfrm>
              <a:off x="0" y="-47625"/>
              <a:ext cx="224626" cy="430587"/>
            </a:xfrm>
            <a:prstGeom prst="rect">
              <a:avLst/>
            </a:prstGeom>
          </p:spPr>
          <p:txBody>
            <a:bodyPr anchor="ctr" rtlCol="false" tIns="50800" lIns="50800" bIns="50800" rIns="50800"/>
            <a:lstStyle/>
            <a:p>
              <a:pPr algn="ctr">
                <a:lnSpc>
                  <a:spcPts val="3359"/>
                </a:lnSpc>
              </a:pPr>
              <a:r>
                <a:rPr lang="en-US" b="true" sz="2400">
                  <a:solidFill>
                    <a:srgbClr val="7CD4D2"/>
                  </a:solidFill>
                  <a:latin typeface="Aileron Bold"/>
                  <a:ea typeface="Aileron Bold"/>
                  <a:cs typeface="Aileron Bold"/>
                  <a:sym typeface="Aileron Bold"/>
                </a:rPr>
                <a:t>01</a:t>
              </a:r>
            </a:p>
          </p:txBody>
        </p:sp>
      </p:grpSp>
      <p:grpSp>
        <p:nvGrpSpPr>
          <p:cNvPr name="Group 15" id="15"/>
          <p:cNvGrpSpPr/>
          <p:nvPr/>
        </p:nvGrpSpPr>
        <p:grpSpPr>
          <a:xfrm rot="0">
            <a:off x="7940369" y="1427489"/>
            <a:ext cx="6346238" cy="1552575"/>
            <a:chOff x="0" y="0"/>
            <a:chExt cx="1671437" cy="408909"/>
          </a:xfrm>
        </p:grpSpPr>
        <p:sp>
          <p:nvSpPr>
            <p:cNvPr name="Freeform 16" id="16"/>
            <p:cNvSpPr/>
            <p:nvPr/>
          </p:nvSpPr>
          <p:spPr>
            <a:xfrm flipH="false" flipV="false" rot="0">
              <a:off x="0" y="0"/>
              <a:ext cx="1671437" cy="408909"/>
            </a:xfrm>
            <a:custGeom>
              <a:avLst/>
              <a:gdLst/>
              <a:ahLst/>
              <a:cxnLst/>
              <a:rect r="r" b="b" t="t" l="l"/>
              <a:pathLst>
                <a:path h="408909" w="1671437">
                  <a:moveTo>
                    <a:pt x="0" y="0"/>
                  </a:moveTo>
                  <a:lnTo>
                    <a:pt x="1671437" y="0"/>
                  </a:lnTo>
                  <a:lnTo>
                    <a:pt x="1671437" y="408909"/>
                  </a:lnTo>
                  <a:lnTo>
                    <a:pt x="0" y="408909"/>
                  </a:lnTo>
                  <a:close/>
                </a:path>
              </a:pathLst>
            </a:custGeom>
            <a:solidFill>
              <a:srgbClr val="FFFFFF"/>
            </a:solidFill>
          </p:spPr>
        </p:sp>
        <p:sp>
          <p:nvSpPr>
            <p:cNvPr name="TextBox 17" id="17"/>
            <p:cNvSpPr txBox="true"/>
            <p:nvPr/>
          </p:nvSpPr>
          <p:spPr>
            <a:xfrm>
              <a:off x="0" y="-38100"/>
              <a:ext cx="1671437" cy="447009"/>
            </a:xfrm>
            <a:prstGeom prst="rect">
              <a:avLst/>
            </a:prstGeom>
          </p:spPr>
          <p:txBody>
            <a:bodyPr anchor="ctr" rtlCol="false" tIns="254000" lIns="254000" bIns="254000" rIns="254000"/>
            <a:lstStyle/>
            <a:p>
              <a:pPr algn="just">
                <a:lnSpc>
                  <a:spcPts val="3080"/>
                </a:lnSpc>
              </a:pPr>
              <a:r>
                <a:rPr lang="en-US" sz="2200" spc="110">
                  <a:solidFill>
                    <a:srgbClr val="191919"/>
                  </a:solidFill>
                  <a:latin typeface="Aileron"/>
                  <a:ea typeface="Aileron"/>
                  <a:cs typeface="Aileron"/>
                  <a:sym typeface="Aileron"/>
                </a:rPr>
                <a:t>Camera frames are captured on the client side and sent as binary bytes through the WebSocket.</a:t>
              </a:r>
            </a:p>
          </p:txBody>
        </p:sp>
      </p:grpSp>
      <p:grpSp>
        <p:nvGrpSpPr>
          <p:cNvPr name="Group 18" id="18"/>
          <p:cNvGrpSpPr/>
          <p:nvPr/>
        </p:nvGrpSpPr>
        <p:grpSpPr>
          <a:xfrm rot="0">
            <a:off x="4854269" y="3170631"/>
            <a:ext cx="3086100" cy="1454060"/>
            <a:chOff x="0" y="0"/>
            <a:chExt cx="812800" cy="382962"/>
          </a:xfrm>
        </p:grpSpPr>
        <p:sp>
          <p:nvSpPr>
            <p:cNvPr name="Freeform 19" id="19"/>
            <p:cNvSpPr/>
            <p:nvPr/>
          </p:nvSpPr>
          <p:spPr>
            <a:xfrm flipH="false" flipV="false" rot="0">
              <a:off x="0" y="0"/>
              <a:ext cx="812800" cy="382962"/>
            </a:xfrm>
            <a:custGeom>
              <a:avLst/>
              <a:gdLst/>
              <a:ahLst/>
              <a:cxnLst/>
              <a:rect r="r" b="b" t="t" l="l"/>
              <a:pathLst>
                <a:path h="382962" w="812800">
                  <a:moveTo>
                    <a:pt x="0" y="0"/>
                  </a:moveTo>
                  <a:lnTo>
                    <a:pt x="812800" y="0"/>
                  </a:lnTo>
                  <a:lnTo>
                    <a:pt x="812800" y="382962"/>
                  </a:lnTo>
                  <a:lnTo>
                    <a:pt x="0" y="382962"/>
                  </a:lnTo>
                  <a:close/>
                </a:path>
              </a:pathLst>
            </a:custGeom>
            <a:solidFill>
              <a:srgbClr val="4AB1B4"/>
            </a:solidFill>
          </p:spPr>
        </p:sp>
        <p:sp>
          <p:nvSpPr>
            <p:cNvPr name="TextBox 20" id="20"/>
            <p:cNvSpPr txBox="true"/>
            <p:nvPr/>
          </p:nvSpPr>
          <p:spPr>
            <a:xfrm>
              <a:off x="0" y="-57150"/>
              <a:ext cx="812800" cy="440112"/>
            </a:xfrm>
            <a:prstGeom prst="rect">
              <a:avLst/>
            </a:prstGeom>
          </p:spPr>
          <p:txBody>
            <a:bodyPr anchor="ctr" rtlCol="false" tIns="254000" lIns="254000" bIns="254000" rIns="254000"/>
            <a:lstStyle/>
            <a:p>
              <a:pPr algn="ctr">
                <a:lnSpc>
                  <a:spcPts val="3640"/>
                </a:lnSpc>
              </a:pPr>
              <a:r>
                <a:rPr lang="en-US" sz="2600" i="true" spc="234">
                  <a:solidFill>
                    <a:srgbClr val="FFFFFF"/>
                  </a:solidFill>
                  <a:latin typeface="Aileron Italics"/>
                  <a:ea typeface="Aileron Italics"/>
                  <a:cs typeface="Aileron Italics"/>
                  <a:sym typeface="Aileron Italics"/>
                </a:rPr>
                <a:t>Ingestion</a:t>
              </a:r>
            </a:p>
          </p:txBody>
        </p:sp>
      </p:grpSp>
      <p:grpSp>
        <p:nvGrpSpPr>
          <p:cNvPr name="Group 21" id="21"/>
          <p:cNvGrpSpPr/>
          <p:nvPr/>
        </p:nvGrpSpPr>
        <p:grpSpPr>
          <a:xfrm rot="0">
            <a:off x="4001393" y="3170631"/>
            <a:ext cx="852876" cy="1454060"/>
            <a:chOff x="0" y="0"/>
            <a:chExt cx="224626" cy="382962"/>
          </a:xfrm>
        </p:grpSpPr>
        <p:sp>
          <p:nvSpPr>
            <p:cNvPr name="Freeform 22" id="22"/>
            <p:cNvSpPr/>
            <p:nvPr/>
          </p:nvSpPr>
          <p:spPr>
            <a:xfrm flipH="false" flipV="false" rot="0">
              <a:off x="0" y="0"/>
              <a:ext cx="224626" cy="382962"/>
            </a:xfrm>
            <a:custGeom>
              <a:avLst/>
              <a:gdLst/>
              <a:ahLst/>
              <a:cxnLst/>
              <a:rect r="r" b="b" t="t" l="l"/>
              <a:pathLst>
                <a:path h="382962" w="224626">
                  <a:moveTo>
                    <a:pt x="0" y="0"/>
                  </a:moveTo>
                  <a:lnTo>
                    <a:pt x="224626" y="0"/>
                  </a:lnTo>
                  <a:lnTo>
                    <a:pt x="224626" y="382962"/>
                  </a:lnTo>
                  <a:lnTo>
                    <a:pt x="0" y="382962"/>
                  </a:lnTo>
                  <a:close/>
                </a:path>
              </a:pathLst>
            </a:custGeom>
            <a:solidFill>
              <a:srgbClr val="D2F1F1"/>
            </a:solidFill>
          </p:spPr>
        </p:sp>
        <p:sp>
          <p:nvSpPr>
            <p:cNvPr name="TextBox 23" id="23"/>
            <p:cNvSpPr txBox="true"/>
            <p:nvPr/>
          </p:nvSpPr>
          <p:spPr>
            <a:xfrm>
              <a:off x="0" y="-47625"/>
              <a:ext cx="224626" cy="430587"/>
            </a:xfrm>
            <a:prstGeom prst="rect">
              <a:avLst/>
            </a:prstGeom>
          </p:spPr>
          <p:txBody>
            <a:bodyPr anchor="ctr" rtlCol="false" tIns="50800" lIns="50800" bIns="50800" rIns="50800"/>
            <a:lstStyle/>
            <a:p>
              <a:pPr algn="ctr">
                <a:lnSpc>
                  <a:spcPts val="3359"/>
                </a:lnSpc>
              </a:pPr>
              <a:r>
                <a:rPr lang="en-US" b="true" sz="2400">
                  <a:solidFill>
                    <a:srgbClr val="4AB1B4"/>
                  </a:solidFill>
                  <a:latin typeface="Aileron Bold"/>
                  <a:ea typeface="Aileron Bold"/>
                  <a:cs typeface="Aileron Bold"/>
                  <a:sym typeface="Aileron Bold"/>
                </a:rPr>
                <a:t>02</a:t>
              </a:r>
            </a:p>
          </p:txBody>
        </p:sp>
      </p:grpSp>
      <p:grpSp>
        <p:nvGrpSpPr>
          <p:cNvPr name="Group 24" id="24"/>
          <p:cNvGrpSpPr/>
          <p:nvPr/>
        </p:nvGrpSpPr>
        <p:grpSpPr>
          <a:xfrm rot="0">
            <a:off x="7940369" y="3170631"/>
            <a:ext cx="6346238" cy="1495425"/>
            <a:chOff x="0" y="0"/>
            <a:chExt cx="1671437" cy="393857"/>
          </a:xfrm>
        </p:grpSpPr>
        <p:sp>
          <p:nvSpPr>
            <p:cNvPr name="Freeform 25" id="25"/>
            <p:cNvSpPr/>
            <p:nvPr/>
          </p:nvSpPr>
          <p:spPr>
            <a:xfrm flipH="false" flipV="false" rot="0">
              <a:off x="0" y="0"/>
              <a:ext cx="1671437" cy="393857"/>
            </a:xfrm>
            <a:custGeom>
              <a:avLst/>
              <a:gdLst/>
              <a:ahLst/>
              <a:cxnLst/>
              <a:rect r="r" b="b" t="t" l="l"/>
              <a:pathLst>
                <a:path h="393857" w="1671437">
                  <a:moveTo>
                    <a:pt x="0" y="0"/>
                  </a:moveTo>
                  <a:lnTo>
                    <a:pt x="1671437" y="0"/>
                  </a:lnTo>
                  <a:lnTo>
                    <a:pt x="1671437" y="393857"/>
                  </a:lnTo>
                  <a:lnTo>
                    <a:pt x="0" y="393857"/>
                  </a:lnTo>
                  <a:close/>
                </a:path>
              </a:pathLst>
            </a:custGeom>
            <a:solidFill>
              <a:srgbClr val="FFFFFF"/>
            </a:solidFill>
          </p:spPr>
        </p:sp>
        <p:sp>
          <p:nvSpPr>
            <p:cNvPr name="TextBox 26" id="26"/>
            <p:cNvSpPr txBox="true"/>
            <p:nvPr/>
          </p:nvSpPr>
          <p:spPr>
            <a:xfrm>
              <a:off x="0" y="-47625"/>
              <a:ext cx="1671437" cy="441482"/>
            </a:xfrm>
            <a:prstGeom prst="rect">
              <a:avLst/>
            </a:prstGeom>
          </p:spPr>
          <p:txBody>
            <a:bodyPr anchor="ctr" rtlCol="false" tIns="254000" lIns="254000" bIns="254000" rIns="254000"/>
            <a:lstStyle/>
            <a:p>
              <a:pPr algn="just">
                <a:lnSpc>
                  <a:spcPts val="2940"/>
                </a:lnSpc>
              </a:pPr>
              <a:r>
                <a:rPr lang="en-US" sz="2100" spc="105">
                  <a:solidFill>
                    <a:srgbClr val="191919"/>
                  </a:solidFill>
                  <a:latin typeface="Aileron"/>
                  <a:ea typeface="Aileron"/>
                  <a:cs typeface="Aileron"/>
                  <a:sym typeface="Aileron"/>
                </a:rPr>
                <a:t>The backend receives these bytes and converts them into a format compatible with the model (using NumPy).</a:t>
              </a:r>
            </a:p>
          </p:txBody>
        </p:sp>
      </p:grpSp>
      <p:grpSp>
        <p:nvGrpSpPr>
          <p:cNvPr name="Group 27" id="27"/>
          <p:cNvGrpSpPr/>
          <p:nvPr/>
        </p:nvGrpSpPr>
        <p:grpSpPr>
          <a:xfrm rot="0">
            <a:off x="4854269" y="4864516"/>
            <a:ext cx="3086100" cy="1454060"/>
            <a:chOff x="0" y="0"/>
            <a:chExt cx="812800" cy="382962"/>
          </a:xfrm>
        </p:grpSpPr>
        <p:sp>
          <p:nvSpPr>
            <p:cNvPr name="Freeform 28" id="28"/>
            <p:cNvSpPr/>
            <p:nvPr/>
          </p:nvSpPr>
          <p:spPr>
            <a:xfrm flipH="false" flipV="false" rot="0">
              <a:off x="0" y="0"/>
              <a:ext cx="812800" cy="382962"/>
            </a:xfrm>
            <a:custGeom>
              <a:avLst/>
              <a:gdLst/>
              <a:ahLst/>
              <a:cxnLst/>
              <a:rect r="r" b="b" t="t" l="l"/>
              <a:pathLst>
                <a:path h="382962" w="812800">
                  <a:moveTo>
                    <a:pt x="0" y="0"/>
                  </a:moveTo>
                  <a:lnTo>
                    <a:pt x="812800" y="0"/>
                  </a:lnTo>
                  <a:lnTo>
                    <a:pt x="812800" y="382962"/>
                  </a:lnTo>
                  <a:lnTo>
                    <a:pt x="0" y="382962"/>
                  </a:lnTo>
                  <a:close/>
                </a:path>
              </a:pathLst>
            </a:custGeom>
            <a:solidFill>
              <a:srgbClr val="37C9EF"/>
            </a:solidFill>
          </p:spPr>
        </p:sp>
        <p:sp>
          <p:nvSpPr>
            <p:cNvPr name="TextBox 29" id="29"/>
            <p:cNvSpPr txBox="true"/>
            <p:nvPr/>
          </p:nvSpPr>
          <p:spPr>
            <a:xfrm>
              <a:off x="0" y="-57150"/>
              <a:ext cx="812800" cy="440112"/>
            </a:xfrm>
            <a:prstGeom prst="rect">
              <a:avLst/>
            </a:prstGeom>
          </p:spPr>
          <p:txBody>
            <a:bodyPr anchor="ctr" rtlCol="false" tIns="254000" lIns="254000" bIns="254000" rIns="254000"/>
            <a:lstStyle/>
            <a:p>
              <a:pPr algn="ctr">
                <a:lnSpc>
                  <a:spcPts val="3640"/>
                </a:lnSpc>
              </a:pPr>
              <a:r>
                <a:rPr lang="en-US" sz="2600" i="true" spc="234">
                  <a:solidFill>
                    <a:srgbClr val="FFFFFF"/>
                  </a:solidFill>
                  <a:latin typeface="Aileron Italics"/>
                  <a:ea typeface="Aileron Italics"/>
                  <a:cs typeface="Aileron Italics"/>
                  <a:sym typeface="Aileron Italics"/>
                </a:rPr>
                <a:t>Inference</a:t>
              </a:r>
            </a:p>
          </p:txBody>
        </p:sp>
      </p:grpSp>
      <p:grpSp>
        <p:nvGrpSpPr>
          <p:cNvPr name="Group 30" id="30"/>
          <p:cNvGrpSpPr/>
          <p:nvPr/>
        </p:nvGrpSpPr>
        <p:grpSpPr>
          <a:xfrm rot="0">
            <a:off x="4001393" y="4864516"/>
            <a:ext cx="852876" cy="1454060"/>
            <a:chOff x="0" y="0"/>
            <a:chExt cx="224626" cy="382962"/>
          </a:xfrm>
        </p:grpSpPr>
        <p:sp>
          <p:nvSpPr>
            <p:cNvPr name="Freeform 31" id="31"/>
            <p:cNvSpPr/>
            <p:nvPr/>
          </p:nvSpPr>
          <p:spPr>
            <a:xfrm flipH="false" flipV="false" rot="0">
              <a:off x="0" y="0"/>
              <a:ext cx="224626" cy="382962"/>
            </a:xfrm>
            <a:custGeom>
              <a:avLst/>
              <a:gdLst/>
              <a:ahLst/>
              <a:cxnLst/>
              <a:rect r="r" b="b" t="t" l="l"/>
              <a:pathLst>
                <a:path h="382962" w="224626">
                  <a:moveTo>
                    <a:pt x="0" y="0"/>
                  </a:moveTo>
                  <a:lnTo>
                    <a:pt x="224626" y="0"/>
                  </a:lnTo>
                  <a:lnTo>
                    <a:pt x="224626" y="382962"/>
                  </a:lnTo>
                  <a:lnTo>
                    <a:pt x="0" y="382962"/>
                  </a:lnTo>
                  <a:close/>
                </a:path>
              </a:pathLst>
            </a:custGeom>
            <a:solidFill>
              <a:srgbClr val="D3F2FB"/>
            </a:solidFill>
          </p:spPr>
        </p:sp>
        <p:sp>
          <p:nvSpPr>
            <p:cNvPr name="TextBox 32" id="32"/>
            <p:cNvSpPr txBox="true"/>
            <p:nvPr/>
          </p:nvSpPr>
          <p:spPr>
            <a:xfrm>
              <a:off x="0" y="-47625"/>
              <a:ext cx="224626" cy="430587"/>
            </a:xfrm>
            <a:prstGeom prst="rect">
              <a:avLst/>
            </a:prstGeom>
          </p:spPr>
          <p:txBody>
            <a:bodyPr anchor="ctr" rtlCol="false" tIns="50800" lIns="50800" bIns="50800" rIns="50800"/>
            <a:lstStyle/>
            <a:p>
              <a:pPr algn="ctr">
                <a:lnSpc>
                  <a:spcPts val="3359"/>
                </a:lnSpc>
              </a:pPr>
              <a:r>
                <a:rPr lang="en-US" b="true" sz="2400">
                  <a:solidFill>
                    <a:srgbClr val="37C9EF"/>
                  </a:solidFill>
                  <a:latin typeface="Aileron Bold"/>
                  <a:ea typeface="Aileron Bold"/>
                  <a:cs typeface="Aileron Bold"/>
                  <a:sym typeface="Aileron Bold"/>
                </a:rPr>
                <a:t>03</a:t>
              </a:r>
            </a:p>
          </p:txBody>
        </p:sp>
      </p:grpSp>
      <p:grpSp>
        <p:nvGrpSpPr>
          <p:cNvPr name="Group 33" id="33"/>
          <p:cNvGrpSpPr/>
          <p:nvPr/>
        </p:nvGrpSpPr>
        <p:grpSpPr>
          <a:xfrm rot="0">
            <a:off x="7940369" y="4864516"/>
            <a:ext cx="6346238" cy="1454060"/>
            <a:chOff x="0" y="0"/>
            <a:chExt cx="1671437" cy="382962"/>
          </a:xfrm>
        </p:grpSpPr>
        <p:sp>
          <p:nvSpPr>
            <p:cNvPr name="Freeform 34" id="34"/>
            <p:cNvSpPr/>
            <p:nvPr/>
          </p:nvSpPr>
          <p:spPr>
            <a:xfrm flipH="false" flipV="false" rot="0">
              <a:off x="0" y="0"/>
              <a:ext cx="1671437" cy="382962"/>
            </a:xfrm>
            <a:custGeom>
              <a:avLst/>
              <a:gdLst/>
              <a:ahLst/>
              <a:cxnLst/>
              <a:rect r="r" b="b" t="t" l="l"/>
              <a:pathLst>
                <a:path h="382962" w="1671437">
                  <a:moveTo>
                    <a:pt x="0" y="0"/>
                  </a:moveTo>
                  <a:lnTo>
                    <a:pt x="1671437" y="0"/>
                  </a:lnTo>
                  <a:lnTo>
                    <a:pt x="1671437" y="382962"/>
                  </a:lnTo>
                  <a:lnTo>
                    <a:pt x="0" y="382962"/>
                  </a:lnTo>
                  <a:close/>
                </a:path>
              </a:pathLst>
            </a:custGeom>
            <a:solidFill>
              <a:srgbClr val="FFFFFF"/>
            </a:solidFill>
          </p:spPr>
        </p:sp>
        <p:sp>
          <p:nvSpPr>
            <p:cNvPr name="TextBox 35" id="35"/>
            <p:cNvSpPr txBox="true"/>
            <p:nvPr/>
          </p:nvSpPr>
          <p:spPr>
            <a:xfrm>
              <a:off x="0" y="-47625"/>
              <a:ext cx="1671437" cy="430587"/>
            </a:xfrm>
            <a:prstGeom prst="rect">
              <a:avLst/>
            </a:prstGeom>
          </p:spPr>
          <p:txBody>
            <a:bodyPr anchor="ctr" rtlCol="false" tIns="254000" lIns="254000" bIns="254000" rIns="254000"/>
            <a:lstStyle/>
            <a:p>
              <a:pPr algn="just">
                <a:lnSpc>
                  <a:spcPts val="2940"/>
                </a:lnSpc>
              </a:pPr>
              <a:r>
                <a:rPr lang="en-US" sz="2100" spc="105">
                  <a:solidFill>
                    <a:srgbClr val="191919"/>
                  </a:solidFill>
                  <a:latin typeface="Aileron"/>
                  <a:ea typeface="Aileron"/>
                  <a:cs typeface="Aileron"/>
                  <a:sym typeface="Aileron"/>
                </a:rPr>
                <a:t>YOLO predicts the presence of weapons in milliseconds.</a:t>
              </a:r>
            </a:p>
          </p:txBody>
        </p:sp>
      </p:grpSp>
      <p:grpSp>
        <p:nvGrpSpPr>
          <p:cNvPr name="Group 36" id="36"/>
          <p:cNvGrpSpPr/>
          <p:nvPr/>
        </p:nvGrpSpPr>
        <p:grpSpPr>
          <a:xfrm rot="0">
            <a:off x="4854269" y="6558401"/>
            <a:ext cx="3086100" cy="1454060"/>
            <a:chOff x="0" y="0"/>
            <a:chExt cx="812800" cy="382962"/>
          </a:xfrm>
        </p:grpSpPr>
        <p:sp>
          <p:nvSpPr>
            <p:cNvPr name="Freeform 37" id="37"/>
            <p:cNvSpPr/>
            <p:nvPr/>
          </p:nvSpPr>
          <p:spPr>
            <a:xfrm flipH="false" flipV="false" rot="0">
              <a:off x="0" y="0"/>
              <a:ext cx="812800" cy="382962"/>
            </a:xfrm>
            <a:custGeom>
              <a:avLst/>
              <a:gdLst/>
              <a:ahLst/>
              <a:cxnLst/>
              <a:rect r="r" b="b" t="t" l="l"/>
              <a:pathLst>
                <a:path h="382962" w="812800">
                  <a:moveTo>
                    <a:pt x="0" y="0"/>
                  </a:moveTo>
                  <a:lnTo>
                    <a:pt x="812800" y="0"/>
                  </a:lnTo>
                  <a:lnTo>
                    <a:pt x="812800" y="382962"/>
                  </a:lnTo>
                  <a:lnTo>
                    <a:pt x="0" y="382962"/>
                  </a:lnTo>
                  <a:close/>
                </a:path>
              </a:pathLst>
            </a:custGeom>
            <a:solidFill>
              <a:srgbClr val="2C92D5"/>
            </a:solidFill>
          </p:spPr>
        </p:sp>
        <p:sp>
          <p:nvSpPr>
            <p:cNvPr name="TextBox 38" id="38"/>
            <p:cNvSpPr txBox="true"/>
            <p:nvPr/>
          </p:nvSpPr>
          <p:spPr>
            <a:xfrm>
              <a:off x="0" y="-57150"/>
              <a:ext cx="812800" cy="440112"/>
            </a:xfrm>
            <a:prstGeom prst="rect">
              <a:avLst/>
            </a:prstGeom>
          </p:spPr>
          <p:txBody>
            <a:bodyPr anchor="ctr" rtlCol="false" tIns="254000" lIns="254000" bIns="254000" rIns="254000"/>
            <a:lstStyle/>
            <a:p>
              <a:pPr algn="ctr">
                <a:lnSpc>
                  <a:spcPts val="3640"/>
                </a:lnSpc>
              </a:pPr>
              <a:r>
                <a:rPr lang="en-US" sz="2600" i="true" spc="234">
                  <a:solidFill>
                    <a:srgbClr val="FFFFFF"/>
                  </a:solidFill>
                  <a:latin typeface="Aileron Italics"/>
                  <a:ea typeface="Aileron Italics"/>
                  <a:cs typeface="Aileron Italics"/>
                  <a:sym typeface="Aileron Italics"/>
                </a:rPr>
                <a:t>Annotation</a:t>
              </a:r>
            </a:p>
          </p:txBody>
        </p:sp>
      </p:grpSp>
      <p:grpSp>
        <p:nvGrpSpPr>
          <p:cNvPr name="Group 39" id="39"/>
          <p:cNvGrpSpPr/>
          <p:nvPr/>
        </p:nvGrpSpPr>
        <p:grpSpPr>
          <a:xfrm rot="0">
            <a:off x="4001393" y="6558401"/>
            <a:ext cx="852876" cy="1454060"/>
            <a:chOff x="0" y="0"/>
            <a:chExt cx="224626" cy="382962"/>
          </a:xfrm>
        </p:grpSpPr>
        <p:sp>
          <p:nvSpPr>
            <p:cNvPr name="Freeform 40" id="40"/>
            <p:cNvSpPr/>
            <p:nvPr/>
          </p:nvSpPr>
          <p:spPr>
            <a:xfrm flipH="false" flipV="false" rot="0">
              <a:off x="0" y="0"/>
              <a:ext cx="224626" cy="382962"/>
            </a:xfrm>
            <a:custGeom>
              <a:avLst/>
              <a:gdLst/>
              <a:ahLst/>
              <a:cxnLst/>
              <a:rect r="r" b="b" t="t" l="l"/>
              <a:pathLst>
                <a:path h="382962" w="224626">
                  <a:moveTo>
                    <a:pt x="0" y="0"/>
                  </a:moveTo>
                  <a:lnTo>
                    <a:pt x="224626" y="0"/>
                  </a:lnTo>
                  <a:lnTo>
                    <a:pt x="224626" y="382962"/>
                  </a:lnTo>
                  <a:lnTo>
                    <a:pt x="0" y="382962"/>
                  </a:lnTo>
                  <a:close/>
                </a:path>
              </a:pathLst>
            </a:custGeom>
            <a:solidFill>
              <a:srgbClr val="D3F2FB"/>
            </a:solidFill>
          </p:spPr>
        </p:sp>
        <p:sp>
          <p:nvSpPr>
            <p:cNvPr name="TextBox 41" id="41"/>
            <p:cNvSpPr txBox="true"/>
            <p:nvPr/>
          </p:nvSpPr>
          <p:spPr>
            <a:xfrm>
              <a:off x="0" y="-47625"/>
              <a:ext cx="224626" cy="430587"/>
            </a:xfrm>
            <a:prstGeom prst="rect">
              <a:avLst/>
            </a:prstGeom>
          </p:spPr>
          <p:txBody>
            <a:bodyPr anchor="ctr" rtlCol="false" tIns="50800" lIns="50800" bIns="50800" rIns="50800"/>
            <a:lstStyle/>
            <a:p>
              <a:pPr algn="ctr">
                <a:lnSpc>
                  <a:spcPts val="3359"/>
                </a:lnSpc>
              </a:pPr>
              <a:r>
                <a:rPr lang="en-US" b="true" sz="2400">
                  <a:solidFill>
                    <a:srgbClr val="2C92D5"/>
                  </a:solidFill>
                  <a:latin typeface="Aileron Bold"/>
                  <a:ea typeface="Aileron Bold"/>
                  <a:cs typeface="Aileron Bold"/>
                  <a:sym typeface="Aileron Bold"/>
                </a:rPr>
                <a:t>04</a:t>
              </a:r>
            </a:p>
          </p:txBody>
        </p:sp>
      </p:grpSp>
      <p:grpSp>
        <p:nvGrpSpPr>
          <p:cNvPr name="Group 42" id="42"/>
          <p:cNvGrpSpPr/>
          <p:nvPr/>
        </p:nvGrpSpPr>
        <p:grpSpPr>
          <a:xfrm rot="0">
            <a:off x="7940369" y="6558401"/>
            <a:ext cx="6346238" cy="1454060"/>
            <a:chOff x="0" y="0"/>
            <a:chExt cx="1671437" cy="382962"/>
          </a:xfrm>
        </p:grpSpPr>
        <p:sp>
          <p:nvSpPr>
            <p:cNvPr name="Freeform 43" id="43"/>
            <p:cNvSpPr/>
            <p:nvPr/>
          </p:nvSpPr>
          <p:spPr>
            <a:xfrm flipH="false" flipV="false" rot="0">
              <a:off x="0" y="0"/>
              <a:ext cx="1671437" cy="382962"/>
            </a:xfrm>
            <a:custGeom>
              <a:avLst/>
              <a:gdLst/>
              <a:ahLst/>
              <a:cxnLst/>
              <a:rect r="r" b="b" t="t" l="l"/>
              <a:pathLst>
                <a:path h="382962" w="1671437">
                  <a:moveTo>
                    <a:pt x="0" y="0"/>
                  </a:moveTo>
                  <a:lnTo>
                    <a:pt x="1671437" y="0"/>
                  </a:lnTo>
                  <a:lnTo>
                    <a:pt x="1671437" y="382962"/>
                  </a:lnTo>
                  <a:lnTo>
                    <a:pt x="0" y="382962"/>
                  </a:lnTo>
                  <a:close/>
                </a:path>
              </a:pathLst>
            </a:custGeom>
            <a:solidFill>
              <a:srgbClr val="FFFFFF"/>
            </a:solidFill>
          </p:spPr>
        </p:sp>
        <p:sp>
          <p:nvSpPr>
            <p:cNvPr name="TextBox 44" id="44"/>
            <p:cNvSpPr txBox="true"/>
            <p:nvPr/>
          </p:nvSpPr>
          <p:spPr>
            <a:xfrm>
              <a:off x="0" y="-47625"/>
              <a:ext cx="1671437" cy="430587"/>
            </a:xfrm>
            <a:prstGeom prst="rect">
              <a:avLst/>
            </a:prstGeom>
          </p:spPr>
          <p:txBody>
            <a:bodyPr anchor="ctr" rtlCol="false" tIns="254000" lIns="254000" bIns="254000" rIns="254000"/>
            <a:lstStyle/>
            <a:p>
              <a:pPr algn="just">
                <a:lnSpc>
                  <a:spcPts val="2940"/>
                </a:lnSpc>
              </a:pPr>
              <a:r>
                <a:rPr lang="en-US" sz="2100" spc="105">
                  <a:solidFill>
                    <a:srgbClr val="191919"/>
                  </a:solidFill>
                  <a:latin typeface="Aileron"/>
                  <a:ea typeface="Aileron"/>
                  <a:cs typeface="Aileron"/>
                  <a:sym typeface="Aileron"/>
                </a:rPr>
                <a:t>Bounding boxes are overlaid onto the frames locally on the server.</a:t>
              </a:r>
            </a:p>
          </p:txBody>
        </p:sp>
      </p:grpSp>
      <p:grpSp>
        <p:nvGrpSpPr>
          <p:cNvPr name="Group 45" id="45"/>
          <p:cNvGrpSpPr/>
          <p:nvPr/>
        </p:nvGrpSpPr>
        <p:grpSpPr>
          <a:xfrm rot="0">
            <a:off x="4854269" y="8252286"/>
            <a:ext cx="3086100" cy="1454060"/>
            <a:chOff x="0" y="0"/>
            <a:chExt cx="812800" cy="382962"/>
          </a:xfrm>
        </p:grpSpPr>
        <p:sp>
          <p:nvSpPr>
            <p:cNvPr name="Freeform 46" id="46"/>
            <p:cNvSpPr/>
            <p:nvPr/>
          </p:nvSpPr>
          <p:spPr>
            <a:xfrm flipH="false" flipV="false" rot="0">
              <a:off x="0" y="0"/>
              <a:ext cx="812800" cy="382962"/>
            </a:xfrm>
            <a:custGeom>
              <a:avLst/>
              <a:gdLst/>
              <a:ahLst/>
              <a:cxnLst/>
              <a:rect r="r" b="b" t="t" l="l"/>
              <a:pathLst>
                <a:path h="382962" w="812800">
                  <a:moveTo>
                    <a:pt x="0" y="0"/>
                  </a:moveTo>
                  <a:lnTo>
                    <a:pt x="812800" y="0"/>
                  </a:lnTo>
                  <a:lnTo>
                    <a:pt x="812800" y="382962"/>
                  </a:lnTo>
                  <a:lnTo>
                    <a:pt x="0" y="382962"/>
                  </a:lnTo>
                  <a:close/>
                </a:path>
              </a:pathLst>
            </a:custGeom>
            <a:solidFill>
              <a:srgbClr val="13538A"/>
            </a:solidFill>
          </p:spPr>
        </p:sp>
        <p:sp>
          <p:nvSpPr>
            <p:cNvPr name="TextBox 47" id="47"/>
            <p:cNvSpPr txBox="true"/>
            <p:nvPr/>
          </p:nvSpPr>
          <p:spPr>
            <a:xfrm>
              <a:off x="0" y="-57150"/>
              <a:ext cx="812800" cy="440112"/>
            </a:xfrm>
            <a:prstGeom prst="rect">
              <a:avLst/>
            </a:prstGeom>
          </p:spPr>
          <p:txBody>
            <a:bodyPr anchor="ctr" rtlCol="false" tIns="254000" lIns="254000" bIns="254000" rIns="254000"/>
            <a:lstStyle/>
            <a:p>
              <a:pPr algn="ctr">
                <a:lnSpc>
                  <a:spcPts val="3640"/>
                </a:lnSpc>
              </a:pPr>
              <a:r>
                <a:rPr lang="en-US" sz="2600" i="true" spc="234">
                  <a:solidFill>
                    <a:srgbClr val="FFFFFF"/>
                  </a:solidFill>
                  <a:latin typeface="Aileron Italics"/>
                  <a:ea typeface="Aileron Italics"/>
                  <a:cs typeface="Aileron Italics"/>
                  <a:sym typeface="Aileron Italics"/>
                </a:rPr>
                <a:t>Streaming</a:t>
              </a:r>
            </a:p>
          </p:txBody>
        </p:sp>
      </p:grpSp>
      <p:grpSp>
        <p:nvGrpSpPr>
          <p:cNvPr name="Group 48" id="48"/>
          <p:cNvGrpSpPr/>
          <p:nvPr/>
        </p:nvGrpSpPr>
        <p:grpSpPr>
          <a:xfrm rot="0">
            <a:off x="4001393" y="8252286"/>
            <a:ext cx="852876" cy="1454060"/>
            <a:chOff x="0" y="0"/>
            <a:chExt cx="224626" cy="382962"/>
          </a:xfrm>
        </p:grpSpPr>
        <p:sp>
          <p:nvSpPr>
            <p:cNvPr name="Freeform 49" id="49"/>
            <p:cNvSpPr/>
            <p:nvPr/>
          </p:nvSpPr>
          <p:spPr>
            <a:xfrm flipH="false" flipV="false" rot="0">
              <a:off x="0" y="0"/>
              <a:ext cx="224626" cy="382962"/>
            </a:xfrm>
            <a:custGeom>
              <a:avLst/>
              <a:gdLst/>
              <a:ahLst/>
              <a:cxnLst/>
              <a:rect r="r" b="b" t="t" l="l"/>
              <a:pathLst>
                <a:path h="382962" w="224626">
                  <a:moveTo>
                    <a:pt x="0" y="0"/>
                  </a:moveTo>
                  <a:lnTo>
                    <a:pt x="224626" y="0"/>
                  </a:lnTo>
                  <a:lnTo>
                    <a:pt x="224626" y="382962"/>
                  </a:lnTo>
                  <a:lnTo>
                    <a:pt x="0" y="382962"/>
                  </a:lnTo>
                  <a:close/>
                </a:path>
              </a:pathLst>
            </a:custGeom>
            <a:solidFill>
              <a:srgbClr val="CFE4F5"/>
            </a:solidFill>
          </p:spPr>
        </p:sp>
        <p:sp>
          <p:nvSpPr>
            <p:cNvPr name="TextBox 50" id="50"/>
            <p:cNvSpPr txBox="true"/>
            <p:nvPr/>
          </p:nvSpPr>
          <p:spPr>
            <a:xfrm>
              <a:off x="0" y="-47625"/>
              <a:ext cx="224626" cy="430587"/>
            </a:xfrm>
            <a:prstGeom prst="rect">
              <a:avLst/>
            </a:prstGeom>
          </p:spPr>
          <p:txBody>
            <a:bodyPr anchor="ctr" rtlCol="false" tIns="50800" lIns="50800" bIns="50800" rIns="50800"/>
            <a:lstStyle/>
            <a:p>
              <a:pPr algn="ctr">
                <a:lnSpc>
                  <a:spcPts val="3359"/>
                </a:lnSpc>
              </a:pPr>
              <a:r>
                <a:rPr lang="en-US" b="true" sz="2400">
                  <a:solidFill>
                    <a:srgbClr val="13538A"/>
                  </a:solidFill>
                  <a:latin typeface="Aileron Bold"/>
                  <a:ea typeface="Aileron Bold"/>
                  <a:cs typeface="Aileron Bold"/>
                  <a:sym typeface="Aileron Bold"/>
                </a:rPr>
                <a:t>05</a:t>
              </a:r>
            </a:p>
          </p:txBody>
        </p:sp>
      </p:grpSp>
      <p:grpSp>
        <p:nvGrpSpPr>
          <p:cNvPr name="Group 51" id="51"/>
          <p:cNvGrpSpPr/>
          <p:nvPr/>
        </p:nvGrpSpPr>
        <p:grpSpPr>
          <a:xfrm rot="0">
            <a:off x="7940369" y="8252286"/>
            <a:ext cx="6346238" cy="1454060"/>
            <a:chOff x="0" y="0"/>
            <a:chExt cx="1671437" cy="382962"/>
          </a:xfrm>
        </p:grpSpPr>
        <p:sp>
          <p:nvSpPr>
            <p:cNvPr name="Freeform 52" id="52"/>
            <p:cNvSpPr/>
            <p:nvPr/>
          </p:nvSpPr>
          <p:spPr>
            <a:xfrm flipH="false" flipV="false" rot="0">
              <a:off x="0" y="0"/>
              <a:ext cx="1671437" cy="382962"/>
            </a:xfrm>
            <a:custGeom>
              <a:avLst/>
              <a:gdLst/>
              <a:ahLst/>
              <a:cxnLst/>
              <a:rect r="r" b="b" t="t" l="l"/>
              <a:pathLst>
                <a:path h="382962" w="1671437">
                  <a:moveTo>
                    <a:pt x="0" y="0"/>
                  </a:moveTo>
                  <a:lnTo>
                    <a:pt x="1671437" y="0"/>
                  </a:lnTo>
                  <a:lnTo>
                    <a:pt x="1671437" y="382962"/>
                  </a:lnTo>
                  <a:lnTo>
                    <a:pt x="0" y="382962"/>
                  </a:lnTo>
                  <a:close/>
                </a:path>
              </a:pathLst>
            </a:custGeom>
            <a:solidFill>
              <a:srgbClr val="FFFFFF"/>
            </a:solidFill>
          </p:spPr>
        </p:sp>
        <p:sp>
          <p:nvSpPr>
            <p:cNvPr name="TextBox 53" id="53"/>
            <p:cNvSpPr txBox="true"/>
            <p:nvPr/>
          </p:nvSpPr>
          <p:spPr>
            <a:xfrm>
              <a:off x="0" y="-47625"/>
              <a:ext cx="1671437" cy="430587"/>
            </a:xfrm>
            <a:prstGeom prst="rect">
              <a:avLst/>
            </a:prstGeom>
          </p:spPr>
          <p:txBody>
            <a:bodyPr anchor="ctr" rtlCol="false" tIns="254000" lIns="254000" bIns="254000" rIns="254000"/>
            <a:lstStyle/>
            <a:p>
              <a:pPr algn="just">
                <a:lnSpc>
                  <a:spcPts val="2800"/>
                </a:lnSpc>
              </a:pPr>
              <a:r>
                <a:rPr lang="en-US" sz="2000" spc="100">
                  <a:solidFill>
                    <a:srgbClr val="191919"/>
                  </a:solidFill>
                  <a:latin typeface="Aileron"/>
                  <a:ea typeface="Aileron"/>
                  <a:cs typeface="Aileron"/>
                  <a:sym typeface="Aileron"/>
                </a:rPr>
                <a:t>The processed frames are pushed back to the frontend, where the video feed is updated instantly.</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6554255" y="304825"/>
            <a:ext cx="5179490" cy="1428701"/>
          </a:xfrm>
          <a:prstGeom prst="rect">
            <a:avLst/>
          </a:prstGeom>
        </p:spPr>
        <p:txBody>
          <a:bodyPr anchor="t" rtlCol="false" tIns="0" lIns="0" bIns="0" rIns="0">
            <a:spAutoFit/>
          </a:bodyPr>
          <a:lstStyle/>
          <a:p>
            <a:pPr algn="ctr" marL="0" indent="0" lvl="0">
              <a:lnSpc>
                <a:spcPts val="5560"/>
              </a:lnSpc>
              <a:spcBef>
                <a:spcPct val="0"/>
              </a:spcBef>
            </a:pPr>
            <a:r>
              <a:rPr lang="en-US" b="true" sz="4633" spc="46">
                <a:solidFill>
                  <a:srgbClr val="000000"/>
                </a:solidFill>
                <a:latin typeface="Sansation Bold"/>
                <a:ea typeface="Sansation Bold"/>
                <a:cs typeface="Sansation Bold"/>
                <a:sym typeface="Sansation Bold"/>
              </a:rPr>
              <a:t> PERFORMANCE OPTIMIZATIONS</a:t>
            </a:r>
          </a:p>
        </p:txBody>
      </p:sp>
      <p:sp>
        <p:nvSpPr>
          <p:cNvPr name="TextBox 9" id="9"/>
          <p:cNvSpPr txBox="true"/>
          <p:nvPr/>
        </p:nvSpPr>
        <p:spPr>
          <a:xfrm rot="0">
            <a:off x="3878388" y="2098509"/>
            <a:ext cx="11753326" cy="6869607"/>
          </a:xfrm>
          <a:prstGeom prst="rect">
            <a:avLst/>
          </a:prstGeom>
        </p:spPr>
        <p:txBody>
          <a:bodyPr anchor="t" rtlCol="false" tIns="0" lIns="0" bIns="0" rIns="0">
            <a:spAutoFit/>
          </a:bodyPr>
          <a:lstStyle/>
          <a:p>
            <a:pPr algn="l">
              <a:lnSpc>
                <a:spcPts val="4568"/>
              </a:lnSpc>
              <a:spcBef>
                <a:spcPct val="0"/>
              </a:spcBef>
            </a:pPr>
            <a:r>
              <a:rPr lang="en-US" b="true" sz="3262" spc="97">
                <a:solidFill>
                  <a:srgbClr val="000000"/>
                </a:solidFill>
                <a:latin typeface="Aileron Bold"/>
                <a:ea typeface="Aileron Bold"/>
                <a:cs typeface="Aileron Bold"/>
                <a:sym typeface="Aileron Bold"/>
              </a:rPr>
              <a:t>Multiple Ray Workers:</a:t>
            </a:r>
            <a:r>
              <a:rPr lang="en-US" sz="3262" spc="97">
                <a:solidFill>
                  <a:srgbClr val="000000"/>
                </a:solidFill>
                <a:latin typeface="Aileron"/>
                <a:ea typeface="Aileron"/>
                <a:cs typeface="Aileron"/>
                <a:sym typeface="Aileron"/>
              </a:rPr>
              <a:t> By using a distributed actor model, the system can handle multiple concurrent users or high-resolution streams without crashing.</a:t>
            </a:r>
          </a:p>
          <a:p>
            <a:pPr algn="l">
              <a:lnSpc>
                <a:spcPts val="4568"/>
              </a:lnSpc>
              <a:spcBef>
                <a:spcPct val="0"/>
              </a:spcBef>
            </a:pPr>
          </a:p>
          <a:p>
            <a:pPr algn="l">
              <a:lnSpc>
                <a:spcPts val="4568"/>
              </a:lnSpc>
              <a:spcBef>
                <a:spcPct val="0"/>
              </a:spcBef>
            </a:pPr>
            <a:r>
              <a:rPr lang="en-US" b="true" sz="3262" spc="97">
                <a:solidFill>
                  <a:srgbClr val="000000"/>
                </a:solidFill>
                <a:latin typeface="Aileron Bold"/>
                <a:ea typeface="Aileron Bold"/>
                <a:cs typeface="Aileron Bold"/>
                <a:sym typeface="Aileron Bold"/>
              </a:rPr>
              <a:t>Confidence Thresholds:</a:t>
            </a:r>
            <a:r>
              <a:rPr lang="en-US" sz="3262" spc="97">
                <a:solidFill>
                  <a:srgbClr val="000000"/>
                </a:solidFill>
                <a:latin typeface="Aileron"/>
                <a:ea typeface="Aileron"/>
                <a:cs typeface="Aileron"/>
                <a:sym typeface="Aileron"/>
              </a:rPr>
              <a:t> Fine-tuned logic that ignores low-probability detections, significantly reducing false positives in complex environments.</a:t>
            </a:r>
          </a:p>
          <a:p>
            <a:pPr algn="l">
              <a:lnSpc>
                <a:spcPts val="4568"/>
              </a:lnSpc>
              <a:spcBef>
                <a:spcPct val="0"/>
              </a:spcBef>
            </a:pPr>
          </a:p>
          <a:p>
            <a:pPr algn="l">
              <a:lnSpc>
                <a:spcPts val="4568"/>
              </a:lnSpc>
              <a:spcBef>
                <a:spcPct val="0"/>
              </a:spcBef>
            </a:pPr>
            <a:r>
              <a:rPr lang="en-US" b="true" sz="3262" spc="97">
                <a:solidFill>
                  <a:srgbClr val="000000"/>
                </a:solidFill>
                <a:latin typeface="Aileron Bold"/>
                <a:ea typeface="Aileron Bold"/>
                <a:cs typeface="Aileron Bold"/>
                <a:sym typeface="Aileron Bold"/>
              </a:rPr>
              <a:t>Dockerization: </a:t>
            </a:r>
            <a:r>
              <a:rPr lang="en-US" sz="3262" spc="97">
                <a:solidFill>
                  <a:srgbClr val="000000"/>
                </a:solidFill>
                <a:latin typeface="Aileron"/>
                <a:ea typeface="Aileron"/>
                <a:cs typeface="Aileron"/>
                <a:sym typeface="Aileron"/>
              </a:rPr>
              <a:t>The entire backend and worker environment is containerized, ensuring consistent performance across different hardware and cloud environments.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4578270" y="536324"/>
            <a:ext cx="9131460" cy="882090"/>
          </a:xfrm>
          <a:prstGeom prst="rect">
            <a:avLst/>
          </a:prstGeom>
        </p:spPr>
        <p:txBody>
          <a:bodyPr anchor="t" rtlCol="false" tIns="0" lIns="0" bIns="0" rIns="0">
            <a:spAutoFit/>
          </a:bodyPr>
          <a:lstStyle/>
          <a:p>
            <a:pPr algn="ctr" marL="0" indent="0" lvl="0">
              <a:lnSpc>
                <a:spcPts val="6883"/>
              </a:lnSpc>
              <a:spcBef>
                <a:spcPct val="0"/>
              </a:spcBef>
            </a:pPr>
            <a:r>
              <a:rPr lang="en-US" b="true" sz="5736" spc="57">
                <a:solidFill>
                  <a:srgbClr val="000000"/>
                </a:solidFill>
                <a:latin typeface="Sansation Bold"/>
                <a:ea typeface="Sansation Bold"/>
                <a:cs typeface="Sansation Bold"/>
                <a:sym typeface="Sansation Bold"/>
              </a:rPr>
              <a:t>FUTURE IMPROVEMENTS</a:t>
            </a:r>
          </a:p>
        </p:txBody>
      </p:sp>
      <p:sp>
        <p:nvSpPr>
          <p:cNvPr name="TextBox 9" id="9"/>
          <p:cNvSpPr txBox="true"/>
          <p:nvPr/>
        </p:nvSpPr>
        <p:spPr>
          <a:xfrm rot="0">
            <a:off x="3323493" y="2230559"/>
            <a:ext cx="12369288" cy="7405972"/>
          </a:xfrm>
          <a:prstGeom prst="rect">
            <a:avLst/>
          </a:prstGeom>
        </p:spPr>
        <p:txBody>
          <a:bodyPr anchor="t" rtlCol="false" tIns="0" lIns="0" bIns="0" rIns="0">
            <a:spAutoFit/>
          </a:bodyPr>
          <a:lstStyle/>
          <a:p>
            <a:pPr algn="l">
              <a:lnSpc>
                <a:spcPts val="3939"/>
              </a:lnSpc>
            </a:pPr>
            <a:r>
              <a:rPr lang="en-US" b="true" sz="2813">
                <a:solidFill>
                  <a:srgbClr val="000000"/>
                </a:solidFill>
                <a:latin typeface="Canva Sans Bold"/>
                <a:ea typeface="Canva Sans Bold"/>
                <a:cs typeface="Canva Sans Bold"/>
                <a:sym typeface="Canva Sans Bold"/>
              </a:rPr>
              <a:t>Advanced Classification: </a:t>
            </a:r>
            <a:r>
              <a:rPr lang="en-US" sz="2813">
                <a:solidFill>
                  <a:srgbClr val="000000"/>
                </a:solidFill>
                <a:latin typeface="Canva Sans"/>
                <a:ea typeface="Canva Sans"/>
                <a:cs typeface="Canva Sans"/>
                <a:sym typeface="Canva Sans"/>
              </a:rPr>
              <a:t>Expanding the model to distinguish between different types of weapons (e.g., firearms vs. knives).</a:t>
            </a:r>
          </a:p>
          <a:p>
            <a:pPr algn="l">
              <a:lnSpc>
                <a:spcPts val="3939"/>
              </a:lnSpc>
            </a:pPr>
          </a:p>
          <a:p>
            <a:pPr algn="l">
              <a:lnSpc>
                <a:spcPts val="3939"/>
              </a:lnSpc>
            </a:pPr>
            <a:r>
              <a:rPr lang="en-US" b="true" sz="2813">
                <a:solidFill>
                  <a:srgbClr val="000000"/>
                </a:solidFill>
                <a:latin typeface="Canva Sans Bold"/>
                <a:ea typeface="Canva Sans Bold"/>
                <a:cs typeface="Canva Sans Bold"/>
                <a:sym typeface="Canva Sans Bold"/>
              </a:rPr>
              <a:t>Automated Alerts:</a:t>
            </a:r>
            <a:r>
              <a:rPr lang="en-US" sz="2813">
                <a:solidFill>
                  <a:srgbClr val="000000"/>
                </a:solidFill>
                <a:latin typeface="Canva Sans"/>
                <a:ea typeface="Canva Sans"/>
                <a:cs typeface="Canva Sans"/>
                <a:sym typeface="Canva Sans"/>
              </a:rPr>
              <a:t> Integrating an instant notification system (via Email or SMS) when a high-confidence threat is detected.</a:t>
            </a:r>
          </a:p>
          <a:p>
            <a:pPr algn="l">
              <a:lnSpc>
                <a:spcPts val="3939"/>
              </a:lnSpc>
            </a:pPr>
          </a:p>
          <a:p>
            <a:pPr algn="l">
              <a:lnSpc>
                <a:spcPts val="3939"/>
              </a:lnSpc>
            </a:pPr>
            <a:r>
              <a:rPr lang="en-US" b="true" sz="2813">
                <a:solidFill>
                  <a:srgbClr val="000000"/>
                </a:solidFill>
                <a:latin typeface="Canva Sans Bold"/>
                <a:ea typeface="Canva Sans Bold"/>
                <a:cs typeface="Canva Sans Bold"/>
                <a:sym typeface="Canva Sans Bold"/>
              </a:rPr>
              <a:t>Expanded Recognition: </a:t>
            </a:r>
            <a:r>
              <a:rPr lang="en-US" sz="2813">
                <a:solidFill>
                  <a:srgbClr val="000000"/>
                </a:solidFill>
                <a:latin typeface="Canva Sans"/>
                <a:ea typeface="Canva Sans"/>
                <a:cs typeface="Canva Sans"/>
                <a:sym typeface="Canva Sans"/>
              </a:rPr>
              <a:t>Adding face recognition to identify individuals in the vicinity of a detected threat.</a:t>
            </a:r>
          </a:p>
          <a:p>
            <a:pPr algn="l">
              <a:lnSpc>
                <a:spcPts val="3939"/>
              </a:lnSpc>
            </a:pPr>
          </a:p>
          <a:p>
            <a:pPr algn="l">
              <a:lnSpc>
                <a:spcPts val="3939"/>
              </a:lnSpc>
            </a:pPr>
            <a:r>
              <a:rPr lang="en-US" b="true" sz="2813">
                <a:solidFill>
                  <a:srgbClr val="000000"/>
                </a:solidFill>
                <a:latin typeface="Canva Sans Bold"/>
                <a:ea typeface="Canva Sans Bold"/>
                <a:cs typeface="Canva Sans Bold"/>
                <a:sym typeface="Canva Sans Bold"/>
              </a:rPr>
              <a:t>Deployment Versatility:</a:t>
            </a:r>
            <a:r>
              <a:rPr lang="en-US" sz="2813">
                <a:solidFill>
                  <a:srgbClr val="000000"/>
                </a:solidFill>
                <a:latin typeface="Canva Sans"/>
                <a:ea typeface="Canva Sans"/>
                <a:cs typeface="Canva Sans"/>
                <a:sym typeface="Canva Sans"/>
              </a:rPr>
              <a:t> Moving beyond local servers to Cloud and Edge AI (like NVIDIA Jetson) for on-site, low-power monitoring.</a:t>
            </a:r>
          </a:p>
          <a:p>
            <a:pPr algn="l">
              <a:lnSpc>
                <a:spcPts val="3939"/>
              </a:lnSpc>
            </a:pPr>
          </a:p>
          <a:p>
            <a:pPr algn="l">
              <a:lnSpc>
                <a:spcPts val="3939"/>
              </a:lnSpc>
            </a:pPr>
            <a:r>
              <a:rPr lang="en-US" b="true" sz="2813">
                <a:solidFill>
                  <a:srgbClr val="000000"/>
                </a:solidFill>
                <a:latin typeface="Canva Sans Bold"/>
                <a:ea typeface="Canva Sans Bold"/>
                <a:cs typeface="Canva Sans Bold"/>
                <a:sym typeface="Canva Sans Bold"/>
              </a:rPr>
              <a:t>Mobile Support:</a:t>
            </a:r>
            <a:r>
              <a:rPr lang="en-US" sz="2813">
                <a:solidFill>
                  <a:srgbClr val="000000"/>
                </a:solidFill>
                <a:latin typeface="Canva Sans"/>
                <a:ea typeface="Canva Sans"/>
                <a:cs typeface="Canva Sans"/>
                <a:sym typeface="Canva Sans"/>
              </a:rPr>
              <a:t> Developing a dedicated mobile application for security personnel to receive real-time feeds on the go.</a:t>
            </a:r>
          </a:p>
          <a:p>
            <a:pPr algn="l">
              <a:lnSpc>
                <a:spcPts val="393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3299372" y="5221503"/>
            <a:ext cx="11689257" cy="1685925"/>
          </a:xfrm>
          <a:prstGeom prst="rect">
            <a:avLst/>
          </a:prstGeom>
        </p:spPr>
        <p:txBody>
          <a:bodyPr anchor="t" rtlCol="false" tIns="0" lIns="0" bIns="0" rIns="0">
            <a:spAutoFit/>
          </a:bodyPr>
          <a:lstStyle/>
          <a:p>
            <a:pPr algn="ctr" marL="0" indent="0" lvl="0">
              <a:lnSpc>
                <a:spcPts val="13269"/>
              </a:lnSpc>
              <a:spcBef>
                <a:spcPct val="0"/>
              </a:spcBef>
            </a:pPr>
            <a:r>
              <a:rPr lang="en-US" b="true" sz="11057" spc="110">
                <a:solidFill>
                  <a:srgbClr val="000000"/>
                </a:solidFill>
                <a:latin typeface="Sansation Bold"/>
                <a:ea typeface="Sansation Bold"/>
                <a:cs typeface="Sansation Bold"/>
                <a:sym typeface="Sansation Bold"/>
              </a:rPr>
              <a:t>YOU</a:t>
            </a:r>
          </a:p>
        </p:txBody>
      </p:sp>
      <p:sp>
        <p:nvSpPr>
          <p:cNvPr name="TextBox 9" id="9"/>
          <p:cNvSpPr txBox="true"/>
          <p:nvPr/>
        </p:nvSpPr>
        <p:spPr>
          <a:xfrm rot="0">
            <a:off x="4661662" y="3370047"/>
            <a:ext cx="8964676" cy="2038350"/>
          </a:xfrm>
          <a:prstGeom prst="rect">
            <a:avLst/>
          </a:prstGeom>
        </p:spPr>
        <p:txBody>
          <a:bodyPr anchor="t" rtlCol="false" tIns="0" lIns="0" bIns="0" rIns="0">
            <a:spAutoFit/>
          </a:bodyPr>
          <a:lstStyle/>
          <a:p>
            <a:pPr algn="ctr" marL="0" indent="0" lvl="0">
              <a:lnSpc>
                <a:spcPts val="15976"/>
              </a:lnSpc>
              <a:spcBef>
                <a:spcPct val="0"/>
              </a:spcBef>
            </a:pPr>
            <a:r>
              <a:rPr lang="en-US" b="true" sz="13313" spc="399">
                <a:solidFill>
                  <a:srgbClr val="000000"/>
                </a:solidFill>
                <a:latin typeface="Sansation Bold"/>
                <a:ea typeface="Sansation Bold"/>
                <a:cs typeface="Sansation Bold"/>
                <a:sym typeface="Sansation Bold"/>
              </a:rPr>
              <a:t>THANK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DAHJfHHRP90</dc:identifier>
  <dcterms:modified xsi:type="dcterms:W3CDTF">2011-08-01T06:04:30Z</dcterms:modified>
  <cp:revision>1</cp:revision>
  <dc:title>ai212_ppt</dc:title>
</cp:coreProperties>
</file>